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c2ca494e2541dc" /><Relationship Type="http://schemas.openxmlformats.org/officeDocument/2006/relationships/extended-properties" Target="/docProps/app.xml" Id="Rc9d2f576bf414bd9" /><Relationship Type="http://schemas.openxmlformats.org/officeDocument/2006/relationships/officeDocument" Target="/ppt/presentation.xml" Id="R2d5b29218cb844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975ce7b2a5414f"/>
  </p:sldMasterIdLst>
  <p:notesMasterIdLst>
    <p:notesMasterId xmlns:r="http://schemas.openxmlformats.org/officeDocument/2006/relationships" r:id="Refddf7533f094c91"/>
  </p:notesMasterIdLst>
  <p:sldIdLst>
    <p:sldId xmlns:r="http://schemas.openxmlformats.org/officeDocument/2006/relationships" id="256" r:id="R9dc03d1c9b59406a"/>
    <p:sldId xmlns:r="http://schemas.openxmlformats.org/officeDocument/2006/relationships" id="257" r:id="Re9fdff8a91c244d8"/>
    <p:sldId xmlns:r="http://schemas.openxmlformats.org/officeDocument/2006/relationships" id="258" r:id="Rcfbeec44f3b2484f"/>
    <p:sldId xmlns:r="http://schemas.openxmlformats.org/officeDocument/2006/relationships" id="259" r:id="R3d7452109071454d"/>
    <p:sldId xmlns:r="http://schemas.openxmlformats.org/officeDocument/2006/relationships" id="260" r:id="Rb36a7df39fe649eb"/>
    <p:sldId xmlns:r="http://schemas.openxmlformats.org/officeDocument/2006/relationships" id="261" r:id="R65122c0949864bf1"/>
    <p:sldId xmlns:r="http://schemas.openxmlformats.org/officeDocument/2006/relationships" id="262" r:id="R2b565bdef73d4aa6"/>
    <p:sldId xmlns:r="http://schemas.openxmlformats.org/officeDocument/2006/relationships" id="263" r:id="Rf9f2b62945e34b15"/>
    <p:sldId xmlns:r="http://schemas.openxmlformats.org/officeDocument/2006/relationships" id="264" r:id="Rce88d0d9624446d0"/>
    <p:sldId xmlns:r="http://schemas.openxmlformats.org/officeDocument/2006/relationships" id="265" r:id="Rd5553daee5ca4003"/>
    <p:sldId xmlns:r="http://schemas.openxmlformats.org/officeDocument/2006/relationships" id="266" r:id="Rfde22226c2c04683"/>
    <p:sldId xmlns:r="http://schemas.openxmlformats.org/officeDocument/2006/relationships" id="267" r:id="R9f8268993bf643af"/>
    <p:sldId xmlns:r="http://schemas.openxmlformats.org/officeDocument/2006/relationships" id="268" r:id="R30f7b189def14873"/>
    <p:sldId xmlns:r="http://schemas.openxmlformats.org/officeDocument/2006/relationships" id="269" r:id="Rcb33476f4327427b"/>
    <p:sldId xmlns:r="http://schemas.openxmlformats.org/officeDocument/2006/relationships" id="270" r:id="Rac8ec5ebcdc04289"/>
    <p:sldId xmlns:r="http://schemas.openxmlformats.org/officeDocument/2006/relationships" id="271" r:id="Rf18d65f7f1614743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38f1cfb6494a37" /><Relationship Type="http://schemas.openxmlformats.org/officeDocument/2006/relationships/slideMaster" Target="/ppt/slideMasters/slideMaster1.xml" Id="R6f975ce7b2a5414f" /><Relationship Type="http://schemas.openxmlformats.org/officeDocument/2006/relationships/notesMaster" Target="/ppt/notesMasters/notesMaster1.xml" Id="Refddf7533f094c91" /><Relationship Type="http://schemas.openxmlformats.org/officeDocument/2006/relationships/presProps" Target="/ppt/presProps.xml" Id="Re1c80e478187475a" /><Relationship Type="http://schemas.openxmlformats.org/officeDocument/2006/relationships/viewProps" Target="/ppt/viewProps.xml" Id="R8528867464414b80" /><Relationship Type="http://schemas.openxmlformats.org/officeDocument/2006/relationships/tableStyles" Target="/ppt/tableStyles.xml" Id="R22910d9b9339436c" /><Relationship Type="http://schemas.openxmlformats.org/officeDocument/2006/relationships/slide" Target="/ppt/slides/slide1.xml" Id="R9dc03d1c9b59406a" /><Relationship Type="http://schemas.openxmlformats.org/officeDocument/2006/relationships/slide" Target="/ppt/slides/slide2.xml" Id="Re9fdff8a91c244d8" /><Relationship Type="http://schemas.openxmlformats.org/officeDocument/2006/relationships/slide" Target="/ppt/slides/slide3.xml" Id="Rcfbeec44f3b2484f" /><Relationship Type="http://schemas.openxmlformats.org/officeDocument/2006/relationships/slide" Target="/ppt/slides/slide4.xml" Id="R3d7452109071454d" /><Relationship Type="http://schemas.openxmlformats.org/officeDocument/2006/relationships/slide" Target="/ppt/slides/slide5.xml" Id="Rb36a7df39fe649eb" /><Relationship Type="http://schemas.openxmlformats.org/officeDocument/2006/relationships/slide" Target="/ppt/slides/slide6.xml" Id="R65122c0949864bf1" /><Relationship Type="http://schemas.openxmlformats.org/officeDocument/2006/relationships/slide" Target="/ppt/slides/slide7.xml" Id="R2b565bdef73d4aa6" /><Relationship Type="http://schemas.openxmlformats.org/officeDocument/2006/relationships/slide" Target="/ppt/slides/slide8.xml" Id="Rf9f2b62945e34b15" /><Relationship Type="http://schemas.openxmlformats.org/officeDocument/2006/relationships/slide" Target="/ppt/slides/slide9.xml" Id="Rce88d0d9624446d0" /><Relationship Type="http://schemas.openxmlformats.org/officeDocument/2006/relationships/slide" Target="/ppt/slides/slide10.xml" Id="Rd5553daee5ca4003" /><Relationship Type="http://schemas.openxmlformats.org/officeDocument/2006/relationships/slide" Target="/ppt/slides/slide11.xml" Id="Rfde22226c2c04683" /><Relationship Type="http://schemas.openxmlformats.org/officeDocument/2006/relationships/slide" Target="/ppt/slides/slide12.xml" Id="R9f8268993bf643af" /><Relationship Type="http://schemas.openxmlformats.org/officeDocument/2006/relationships/slide" Target="/ppt/slides/slide13.xml" Id="R30f7b189def14873" /><Relationship Type="http://schemas.openxmlformats.org/officeDocument/2006/relationships/slide" Target="/ppt/slides/slide14.xml" Id="Rcb33476f4327427b" /><Relationship Type="http://schemas.openxmlformats.org/officeDocument/2006/relationships/slide" Target="/ppt/slides/slide15.xml" Id="Rac8ec5ebcdc04289" /><Relationship Type="http://schemas.openxmlformats.org/officeDocument/2006/relationships/slide" Target="/ppt/slides/slide16.xml" Id="Rf18d65f7f16147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c0809636d041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be4d774b324a10" /><Relationship Type="http://schemas.openxmlformats.org/officeDocument/2006/relationships/notesMaster" Target="/ppt/notesMasters/notesMaster1.xml" Id="Re27b0d4bb9824b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1fbd9339a24d0d" /><Relationship Type="http://schemas.openxmlformats.org/officeDocument/2006/relationships/notesMaster" Target="/ppt/notesMasters/notesMaster1.xml" Id="Rf293024b7f6241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4d41a12d9e46b9" /><Relationship Type="http://schemas.openxmlformats.org/officeDocument/2006/relationships/notesMaster" Target="/ppt/notesMasters/notesMaster1.xml" Id="R20a7c4e7280e46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898b5dd0154017" /><Relationship Type="http://schemas.openxmlformats.org/officeDocument/2006/relationships/notesMaster" Target="/ppt/notesMasters/notesMaster1.xml" Id="R6c1ad91ee0dd41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c715a4acb646c8" /><Relationship Type="http://schemas.openxmlformats.org/officeDocument/2006/relationships/notesMaster" Target="/ppt/notesMasters/notesMaster1.xml" Id="Rcb9c7a0d30ce4c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edc3ba485b44e8" /><Relationship Type="http://schemas.openxmlformats.org/officeDocument/2006/relationships/notesMaster" Target="/ppt/notesMasters/notesMaster1.xml" Id="Rb42d76e4c1a949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926caceaa447ab" /><Relationship Type="http://schemas.openxmlformats.org/officeDocument/2006/relationships/notesMaster" Target="/ppt/notesMasters/notesMaster1.xml" Id="R2ea11fabf05949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ce9de6a8c948d8" /><Relationship Type="http://schemas.openxmlformats.org/officeDocument/2006/relationships/notesMaster" Target="/ppt/notesMasters/notesMaster1.xml" Id="R45a39145250641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14776774ed4e0e" /><Relationship Type="http://schemas.openxmlformats.org/officeDocument/2006/relationships/notesMaster" Target="/ppt/notesMasters/notesMaster1.xml" Id="R2bc5dbb9022f47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fdac8dec48412c" /><Relationship Type="http://schemas.openxmlformats.org/officeDocument/2006/relationships/notesMaster" Target="/ppt/notesMasters/notesMaster1.xml" Id="Rd35e66a6761742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e912368e1b4fcb" /><Relationship Type="http://schemas.openxmlformats.org/officeDocument/2006/relationships/notesMaster" Target="/ppt/notesMasters/notesMaster1.xml" Id="R26c4864b0bba4eb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8f8f57940a4a75" /><Relationship Type="http://schemas.openxmlformats.org/officeDocument/2006/relationships/notesMaster" Target="/ppt/notesMasters/notesMaster1.xml" Id="R65e618c7c484489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aa03c9c8a4b43d9" /><Relationship Type="http://schemas.openxmlformats.org/officeDocument/2006/relationships/notesMaster" Target="/ppt/notesMasters/notesMaster1.xml" Id="Raba40883d4a1429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074a40420b144b0" /><Relationship Type="http://schemas.openxmlformats.org/officeDocument/2006/relationships/notesMaster" Target="/ppt/notesMasters/notesMaster1.xml" Id="Raf19e877b1e44ad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7e5c26b3b3e4411" /><Relationship Type="http://schemas.openxmlformats.org/officeDocument/2006/relationships/notesMaster" Target="/ppt/notesMasters/notesMaster1.xml" Id="Ra019efd017a1416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1cc6597d027474e" /><Relationship Type="http://schemas.openxmlformats.org/officeDocument/2006/relationships/notesMaster" Target="/ppt/notesMasters/notesMaster1.xml" Id="R724f7af4698947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9e559d57a74b6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6d795f1fb94482" /><Relationship Type="http://schemas.openxmlformats.org/officeDocument/2006/relationships/slideLayout" Target="/ppt/slideLayouts/slideLayout1.xml" Id="R85fdf13d53e14911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fdf13d53e1491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0cc1b68474020" /><Relationship Type="http://schemas.openxmlformats.org/officeDocument/2006/relationships/notesSlide" Target="/ppt/notesSlides/notesSlide1.xml" Id="R39d24c0a12b74d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c9979bdc14cd7" /><Relationship Type="http://schemas.openxmlformats.org/officeDocument/2006/relationships/notesSlide" Target="/ppt/notesSlides/notesSlide2.xml" Id="Rc82b39568b5245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c79a4d73e4dd5" /><Relationship Type="http://schemas.openxmlformats.org/officeDocument/2006/relationships/notesSlide" Target="/ppt/notesSlides/notesSlide3.xml" Id="Ra33a8889b64246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0f88273904835" /><Relationship Type="http://schemas.openxmlformats.org/officeDocument/2006/relationships/notesSlide" Target="/ppt/notesSlides/notesSlide4.xml" Id="R7d4bc55a9fbf4d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4ce23ea9ec466d" /><Relationship Type="http://schemas.openxmlformats.org/officeDocument/2006/relationships/notesSlide" Target="/ppt/notesSlides/notesSlide5.xml" Id="R3d0bb561b6df4c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e20adff134b22" /><Relationship Type="http://schemas.openxmlformats.org/officeDocument/2006/relationships/notesSlide" Target="/ppt/notesSlides/notesSlide6.xml" Id="R07a8ad84f8aa4d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15154155843cb" /><Relationship Type="http://schemas.openxmlformats.org/officeDocument/2006/relationships/notesSlide" Target="/ppt/notesSlides/notesSlide7.xml" Id="R03e29191c67d40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1655ee99240aa" /><Relationship Type="http://schemas.openxmlformats.org/officeDocument/2006/relationships/notesSlide" Target="/ppt/notesSlides/notesSlide8.xml" Id="R9baadc86e04141e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214d6c2cc24d2f" /><Relationship Type="http://schemas.openxmlformats.org/officeDocument/2006/relationships/notesSlide" Target="/ppt/notesSlides/notesSlide9.xml" Id="Rf08bde00636940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1571a21c846fe" /><Relationship Type="http://schemas.openxmlformats.org/officeDocument/2006/relationships/notesSlide" Target="/ppt/notesSlides/notesSlide10.xml" Id="R3524ddeffdc24f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fe145e73e45dc" /><Relationship Type="http://schemas.openxmlformats.org/officeDocument/2006/relationships/notesSlide" Target="/ppt/notesSlides/notesSlide11.xml" Id="Rbf86b913159e4b8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a238c807244ee" /><Relationship Type="http://schemas.openxmlformats.org/officeDocument/2006/relationships/notesSlide" Target="/ppt/notesSlides/notesSlide12.xml" Id="R5c841471d2d94d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aef99d51a457e" /><Relationship Type="http://schemas.openxmlformats.org/officeDocument/2006/relationships/notesSlide" Target="/ppt/notesSlides/notesSlide13.xml" Id="R4d373e61ba70456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b165c1b1ab4e05" /><Relationship Type="http://schemas.openxmlformats.org/officeDocument/2006/relationships/notesSlide" Target="/ppt/notesSlides/notesSlide14.xml" Id="R11699ea4a19f4a5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ffeca425744bd" /><Relationship Type="http://schemas.openxmlformats.org/officeDocument/2006/relationships/notesSlide" Target="/ppt/notesSlides/notesSlide15.xml" Id="R5b40e969daa146f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fe97459c54067" /><Relationship Type="http://schemas.openxmlformats.org/officeDocument/2006/relationships/notesSlide" Target="/ppt/notesSlides/notesSlide16.xml" Id="R874b9cb591bb49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A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12211AA-1677-4550-8264-4DC7496B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91840"/>
            <a:ext cx="91440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058BF8A-A6BC-48B9-AB74-14744848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32004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90D2F81-2C87-4A55-AB1A-12BACABB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8046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 b="1" spc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</a:t>
            </a:r>
            <a:endParaRPr sz="4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B0818B7-8F37-4405-B777-E2CDE63A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8046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开发方法论</a:t>
            </a:r>
            <a:endParaRPr sz="2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CFFFF84-904D-47DC-99DB-9A151D52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8046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规格驱动开发 · 人机协作 · 五步流程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17B8C93-BE5E-4851-BDAF-81EE0C0F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34640"/>
            <a:ext cx="8046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MIT License  ·  开源社区版</a:t>
            </a:r>
            <a:endParaRPr sz="12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3AA9A19-ADD8-474B-BC54-5F70882C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1C1797-2D66-4101-A87E-F6008FDB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1354014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273D831-90D0-45B6-871F-04BC38FC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0111C05-BE0D-43AF-A24D-E73D6D77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D810923-1841-4949-949D-572188E0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为什么需要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2B600F-4E3A-48B8-984D-BFF110D1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50B4C49-7B49-4047-AF49-F6CDEFBC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4137EDB-18A1-4FB5-8F7E-83D6D07B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7315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977FF31-8A93-4B94-8B85-27DAC9D9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5720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PM 写 PRD → Dev 理解偏差 → 返工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52CB768-0670-492E-9660-E083217E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795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信息传递层层失真</a:t>
            </a:r>
            <a:endParaRPr sz="10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5B72249-56F6-4588-B678-664F1BE1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32588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4AA4E01-25F6-4B56-A468-C5F778CC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325880"/>
            <a:ext cx="7315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E008B43-A6B5-48D6-B72E-5CCFE9C8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141732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Dev 边写边改需求，没人知道最终做了什么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25592C7-A78B-4139-878F-582243FD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175564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缺乏需求锚点</a:t>
            </a:r>
            <a:endParaRPr sz="1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62705CB-0693-478F-AA5B-48BC788C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71FD461-FB79-4DED-872F-F06ACDB9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7315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03FFD5A-00D5-446C-BEB5-D1000F52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37744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AI 写代码没有上下文，边写边问效率低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AC788A6-92DF-4914-B42F-DF8CEAF2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71576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AI 用不上力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09C941A-0FDC-461A-8631-289E458B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24612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5461989-A1C6-441A-8199-EC3E46B1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246120"/>
            <a:ext cx="7315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A324E5D-1731-49AD-8DCC-CB428AB3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333756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产品、开发、AI 三者没有统一沟通语言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F905282-17C4-4A95-8E3B-B345593F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367588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角色各自为政</a:t>
            </a:r>
            <a:endParaRPr sz="10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EB89BF9-F548-494F-B447-21778864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023360"/>
            <a:ext cx="6766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486186C-06CB-4256-ADE7-470ED13C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023360"/>
            <a:ext cx="6766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核心问题：缺一个「信任源」(Single Source of Truth)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BCF0B84-7519-4869-BDB8-1963C1E9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A0107CA-7FF0-4A77-BBC4-7091405E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8903589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0360A68-C2E1-49AA-A254-8333559B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66DB0F1-FC6A-4C19-AB29-3C0BB2AA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18E1864-ECE6-4CF4-AEBA-C3C4D3FA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核心理念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9CA1F09-9B4A-41B1-807D-E948C24B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FC998D0-8D40-4747-8810-8F79366A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A784C5A-6ED8-4F78-85F0-A0F61778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BCE84AB-F563-420F-9027-A8957A78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73152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所有决策在文档阶段决定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11313E1-27B9-43EF-9453-55F1F54C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2344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不在编码阶段边写边改</a:t>
            </a:r>
            <a:endParaRPr sz="10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37D5726-EC45-4ECA-B9CE-B82FEE6D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572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591B6DD-3FA2-4FA7-9B2A-314CECE5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572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DF15DCC-AD25-4C0B-891D-CDED2C79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73152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角色边界明确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BB410B6-048F-4D0E-BCA9-2AD022E0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2344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PM 出业务 · Dev 出方案 · AI 按规格执行</a:t>
            </a:r>
            <a:endParaRPr sz="1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7244C26-BAE7-45C9-980E-7B8BB6F3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6F66353-1B16-4D8E-8616-BBB4C2BC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BC9D708-A4E8-4784-AEBD-A710EB6B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56032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文档 + 原型 + 架构 + 规格 + 代码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627A563-4FAD-4E3D-AF09-25FBACC9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0632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一条完整的信任链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5BE9B79-00B5-4A95-802A-9A7D4B77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860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7F03DE1-4C6C-478E-A6D0-339D4937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860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A0F6D94-6E86-4653-BED7-0453FDCA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56032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AI 不跳步骤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75B2EED-D534-4F46-B36B-BA62D424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0632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通过 Step 3 评审后才能进入编码</a:t>
            </a:r>
            <a:endParaRPr sz="10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DB5A0CF-0691-4946-A8B3-42DF56A3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6E42F82-4F96-475A-A07D-F718FAED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0267563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367E874-B7EC-49A6-B540-7E270F1F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ED2A657-F292-4C79-A27D-692E96E2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ECDE7FF-3B96-4766-B570-D69594C4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目录结构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449C517-6489-4A34-97F7-96C9049B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40FA5D7-BD72-40E4-94C8-EF0656FD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120E0F4-1AA0-406F-A76B-8BE3B541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A17C432-F08E-4607-8FEB-C9F2D512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0080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5279311-EFE1-4C20-AC70-9EF45682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0080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PM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FC25013-35D6-45C9-9C56-AABC5879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6400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docs/ + sprints/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92C0353-3A9C-498D-8F8C-F29EDB0E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88720"/>
            <a:ext cx="3017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产品文档 + 冲刺容器</a:t>
            </a:r>
            <a:endParaRPr sz="10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1506B64-62C5-4D7F-B724-E43BDA86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572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684780F-CC99-43B9-B896-E9C166D0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572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75BA70-4750-4BF2-B7AB-29672D74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640080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2F17D6E-D656-40D3-AA26-73E66C88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640080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Dev</a:t>
            </a:r>
            <a:endParaRPr sz="9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66D209-B642-47AE-BAB2-502D76F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6400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apps/ / businesses/ / tools/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2C48F31-E3E8-4507-9A81-B2F4EB6B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188720"/>
            <a:ext cx="3017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纯代码域 框架项目（规格在迭代容器）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B8EC1D0-6324-4093-A92A-198793F1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B887379-0454-4116-8FA7-F7195E5E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7C5552E-580B-42FD-9DE9-6EDC250A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468880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909EE11-3628-4AC8-B65E-4A9EBE6E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468880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架构</a:t>
            </a:r>
            <a:endParaRPr sz="9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4CF5C5C-C9C2-4E1D-8A21-870BE3C7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2468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adrs/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945728A-765C-443C-9BAF-3A9157AB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17520"/>
            <a:ext cx="3017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架构变动设计（一次大型变动一整份）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6B914BC-3619-482C-BECF-65C49EDA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860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89C8146-D8FD-41B7-BFA6-4A4B8851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860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522638B2-A7DC-4ECA-82F1-820AA3E0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468880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D1ECD48-A58E-4CFB-9398-4276E534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468880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</a:t>
            </a:r>
            <a:endParaRPr sz="9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05C0880-1B2B-4D08-BCB9-F921A0BD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468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AGENTS.md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ECF62D0-4332-4E7D-99FC-81449F57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017520"/>
            <a:ext cx="3017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AI 协作入口</a:t>
            </a:r>
            <a:endParaRPr sz="1000"/>
          </a:p>
        </p:txBody>
      </p:sp>
      <p:sp>
        <p:nvSpPr>
          <p:cNvPr id="32" name="Shape 16">
            <a:extLst xmlns:a="http://schemas.openxmlformats.org/drawingml/2006/main">
              <a:ext uri="{FF2B5EF4-FFF2-40B4-BE49-F238E27FC236}">
                <a16:creationId xmlns:a16="http://schemas.microsoft.com/office/drawing/2014/main" id="{779D0CCE-9EAE-42BD-ABB6-00CAC862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950208"/>
            <a:ext cx="6858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17">
            <a:extLst xmlns:a="http://schemas.openxmlformats.org/drawingml/2006/main">
              <a:ext uri="{FF2B5EF4-FFF2-40B4-BE49-F238E27FC236}">
                <a16:creationId xmlns:a16="http://schemas.microsoft.com/office/drawing/2014/main" id="{0BD4B4E9-CFEB-4BBF-B348-4D51DBEF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950208"/>
            <a:ext cx="54864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18">
            <a:extLst xmlns:a="http://schemas.openxmlformats.org/drawingml/2006/main">
              <a:ext uri="{FF2B5EF4-FFF2-40B4-BE49-F238E27FC236}">
                <a16:creationId xmlns:a16="http://schemas.microsoft.com/office/drawing/2014/main" id="{CC7C3F04-B5E0-4ABB-9A39-66D41DD2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416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43BF4C93-DE57-4A1C-8679-12113C83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416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Ops</a:t>
            </a:r>
            <a:endParaRPr sz="90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110B028E-2348-4CCF-BE69-D13001CD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41648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assets/</a:t>
            </a:r>
            <a:endParaRPr sz="1300"/>
          </a:p>
        </p:txBody>
      </p:sp>
      <p:sp>
        <p:nvSpPr>
          <p:cNvPr id="37" name="Text 21">
            <a:extLst xmlns:a="http://schemas.openxmlformats.org/drawingml/2006/main">
              <a:ext uri="{FF2B5EF4-FFF2-40B4-BE49-F238E27FC236}">
                <a16:creationId xmlns:a16="http://schemas.microsoft.com/office/drawing/2014/main" id="{B6AE8416-FC05-4DBC-B8F2-876DBEC5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041648"/>
            <a:ext cx="3566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运营资产：配置 / 接口 / 规范 / 手册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8C96612-D0D6-46D4-ACDA-411BF29F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B93BE56C-89E8-48F3-9A9F-40992584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1405002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88130BC-59CD-4EDC-B65E-84E4113A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CFC0D06-2B3B-42A9-B0C9-1E5C4538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E19044-0BFF-4A78-92A9-93C6ACE0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PM 产出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FA85AE0-3A99-4E7A-A0A3-487C1CEA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2300B4-881A-4ABC-BDCF-52EA5A62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329184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3DC74D7-5840-48C2-873D-2C66FF11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3291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5E37203-B4DE-4AFB-BF93-A2C9AAD6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3291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稳定层 docs/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3BAE7CD-2BFE-45A7-82AA-19674822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960120"/>
            <a:ext cx="292608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product-overview.md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产品概览 + 术语表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non-functional-reqs.md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性能/SLA/安全/合规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visual-design.md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设计规范 / 品牌资产</a:t>
            </a:r>
            <a:endParaRPr sz="11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027063B-37BB-4C24-97A0-82C6E873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"/>
            <a:ext cx="329184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30E9B39-1AB2-4AAD-A696-37A2C00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"/>
            <a:ext cx="3291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5FED123-ADA6-44A3-8EAC-5FF99E41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"/>
            <a:ext cx="3291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版本层 sprints/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3AEF310-4F9F-4576-84F3-65D1376C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960120"/>
            <a:ext cx="292608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sp-NNN-名称/（docs/ + specs/）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SPRINT-features.md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functional-overview.md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user-scenarios.md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business-flows.md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uml-pack.md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prototypes/ (HTML)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EB5F42C-0E95-4340-9521-C7E2CE2B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EAEF357-D8C6-4F56-B009-BA63E642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9819135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13B252D-8116-4EF7-8741-013267E7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B12046A-8572-417E-8B4D-74D7C266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179AB8D-3B27-425C-9EFE-714AFE8E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Dev &amp; 架构师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7DF9FAF-D2E0-45AC-9416-F8456FE0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7B8C752-752C-486B-8FA5-CD0D23B7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329184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B0C69EA-6606-4E38-8726-66C9D02B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54864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3AC90BA-D876-4FAE-AA47-3182E935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572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sprints/*/specs/ 四文件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7BF912E-601F-49F8-9BF8-CCE69E6B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15568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36F2AA9-2A69-4944-898E-3B8AFA58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00584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requirements.md</a:t>
            </a:r>
            <a:endParaRPr sz="1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368CA9E-0D31-4238-9475-B4BC151C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28016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架构 + 方案 + 边界</a:t>
            </a:r>
            <a:endParaRPr sz="9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F2ABC19-EA9A-4A9F-88CE-77119F88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92808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A404026-FD79-4C3A-82E1-4BBE09F9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78308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plan.md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0E86C47-10A5-4B35-8320-5CEF2B75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05740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实现步骤 + 文件清单</a:t>
            </a:r>
            <a:endParaRPr sz="9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8844047-D9AA-4E00-8D47-10327634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70048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9589405-0267-484D-9C90-5F22EAC4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5603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tasks.md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7102554-CB31-4B2C-B48A-AA50FB42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83464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拆分 + 状态跟踪</a:t>
            </a:r>
            <a:endParaRPr sz="9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2431A83-A1B0-4B44-B44F-AC71B3BC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447288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D22AE8E-B046-48D3-B9CC-1BCE366D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33756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check.md</a:t>
            </a:r>
            <a:endParaRPr sz="11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5A17060-9402-473A-BEB1-732BEB35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61188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自检 + 人工验收</a:t>
            </a:r>
            <a:endParaRPr sz="9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B728CC6-6A88-4CE0-BF22-2CC0F6D5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"/>
            <a:ext cx="329184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6168171-6D66-4411-BA3F-C7E9B261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"/>
            <a:ext cx="54864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240CD9-ECEB-47C3-A5C4-DDB92873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4572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adrs/ 架构文档库</a:t>
            </a:r>
            <a:endParaRPr sz="13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C6320DC6-6842-4A35-9973-3ECD55A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960120"/>
            <a:ext cx="292608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一次大型变动 = 一个 adr 文件夹（3 份文档）：
architecture.md
架构总览（上下文/组件/技术选型）
data-model.md
数据模型（实体/表结构）
impact.md
影响与注意事项
整个系统的技术设计只出现在 adrs/</a:t>
            </a:r>
            <a:endParaRPr sz="1000"/>
          </a:p>
          <a:p xmlns:a="http://schemas.openxmlformats.org/drawingml/2006/main">
            <a:pPr marL="0" indent="0">
              <a:buNone/>
            </a:pP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endParaRPr sz="1000"/>
          </a:p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/>
            </a:r>
            <a:endParaRPr sz="10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6E8713C-7C09-4C2C-9194-686DB10D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074819A-C06F-4F1C-BA8C-82FBAB77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997778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A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25B5854-BB49-4563-B597-94FE8469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A24762-5DD9-40C6-9626-F553654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7C1B134-5544-41C1-A2B6-2211544A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046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五步开发流程</a:t>
            </a:r>
            <a:endParaRPr sz="26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8F5B0C-EE4F-4A5D-82A9-8A8C65A0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0"/>
            <a:ext cx="822960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DD7000C-30A6-4534-A61A-52C34B98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6304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0E2E797-2ED6-481E-ABF2-CD2A9F4F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630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F262645-9E47-4EFE-831D-73157546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24028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PM 设计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69E7E8C-DCB3-4AD8-A7F0-747D5EAC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603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docs/ + sprints/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72F2F64-95D2-4A2B-BB6A-D56561C5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554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2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37ABD02-848F-4D43-BB0C-E50985BF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46304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B5DD5D9-FAD7-4FB7-8C97-9C699DA8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4630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262B7AC-9770-42C4-A02D-9A7D0B0C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24028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Dev+AI 规格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698241A-2E35-4DBD-842B-63615498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603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adrs/（一次大变动一个文件夹）+ specs/</a:t>
            </a:r>
            <a:endParaRPr sz="9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8659D98-B47A-4DC7-BE93-B29F6220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554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2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A45A23D-4B23-4A37-BF0E-112D5A6C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146304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1341BCA-CFB1-49A7-A581-0D6E9540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14630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6EFF0C-BEAD-4124-85B3-4ACF2859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24028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评审</a:t>
            </a:r>
            <a:endParaRPr sz="1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997754-3587-4252-B433-EA2D25D5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5603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通过 or 打回</a:t>
            </a:r>
            <a:endParaRPr sz="9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9D14312-0888-49C8-A321-3BC4EDE3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554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20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01BF3163-ECBE-4545-92AC-6EF81577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46304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304803F-34FB-4DFF-A845-FAA19DBE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4630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8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50B9A61-78C3-4642-BE9F-627212E7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24028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编码</a:t>
            </a:r>
            <a:endParaRPr sz="12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C9B7B68-2751-462D-B11B-AC836116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5603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spec → 代码</a:t>
            </a:r>
            <a:endParaRPr sz="9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DA3852A-BDA6-428B-B80F-46FB9D9E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554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20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8AF21746-EC76-4AC0-810A-D7AA7199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6304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53ED147-07C4-4E7C-B8B8-4B9FD14F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630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9E0F191-60DA-42B6-B7E1-4019E373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24028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Dev 收尾</a:t>
            </a:r>
            <a:endParaRPr sz="12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453B68F-2669-402F-ACC9-6AE0BE04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603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边界 + 集成</a:t>
            </a:r>
            <a:endParaRPr sz="9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7B32617-58B0-4C5A-A44E-CD134CEC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80467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8CC416D-AB74-483B-8E27-77AE513D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76809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1: PM 写业务文档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2: Dev 给方向 → AI 写方案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3: PM+Dev 评审 → 通过后 AI 才能编码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4: AI 按 spec 实现 → 自检 → 等待确认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5: Dev 修复边界 + QA 验收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338890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C6ED698-6C11-452A-AC79-737A39AE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D993937-4351-425D-8488-643DB31C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567E979-0242-46A5-BD7C-1E75CEA1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Step 1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PM 产品设计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9CD417A-A5A3-40EF-8DD1-B216A5CD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FEE6FED-D3CA-4867-B89E-8D962658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PM 独作，AI 辅助润色、画图、生成原型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2DA0ABA-B622-4D97-8EE4-52D00B71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1E403E2-9008-47FD-88BD-D70B4EA0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144BE99-0B50-4216-99A7-64B6C9C3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✅ PM 做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A4AF873-C3FC-4B6A-8CDC-D432ABF0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371600"/>
            <a:ext cx="301752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✓  写产品文档 docs/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✓  画 Mermaid 流程图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✓  做 HTML 原型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✓  定义业务验收条件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✓  拆冲刺 sprints/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4B3E296-EE8A-4488-8464-EB4D72A5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D7EA913-674F-4BAC-BB9A-CAA04C63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76BE339-B84A-4B72-B644-FA8438D4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❌ PM 不做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D68BA93-E634-4141-95E1-9E5B69C6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371600"/>
            <a:ext cx="301752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✗  不写技术方案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✗  不写 DB schema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✗  不写 API 设计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✗  不写代码</a:t>
            </a:r>
            <a:endParaRPr sz="1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6B7C3D05-A66D-428B-BDEC-DEC48F2D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37560"/>
            <a:ext cx="6766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93FABF0-663C-48B2-B384-8669DC7A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42900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进入 Step 2 的条件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8B0639B-5A41-49A9-9398-AFA616EA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74904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product-overview + user-scenarios + sprints 就位 → TL 评审技术可行性通过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87F9D10-27CB-431E-9BD2-E2244DC3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E7B3FC7-4EB7-4C9E-B194-A05B239F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072523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D7E467D-DA3A-4AF3-AFFA-3D141774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5489BFA-1F5D-4116-8846-076CAB8D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3A6F420-0E8A-47E8-910C-290926F3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Step 2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Dev+AI 架构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B3DAEB3-BDC7-4B5E-B416-C0BBC07A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FD6EAAD-DE80-448C-AA19-4040F606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Dev 给方向（10 分钟），AI 写完整方案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B2589FA-8F5E-4F3E-A015-F17281AA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FBFC01B-EC08-4BD3-BAB8-668F75C8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5C4B9BA-C2D2-45F4-B9F4-537FE91D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051560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Dev 4 个决策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43365D2-26D9-4959-8E81-806D952E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463040"/>
            <a:ext cx="30175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① 本次迭代拆几个 spec？
② 是大型架构变动吗？（是→一个 adr 文件夹）
③ 跨 spec 依赖？
④ 核心 API/表名？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/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1E4171D-C841-4F17-8627-F26E484E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5F5B1F4-3E3D-46D1-95BC-968CD102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46978D2-7A26-479E-AD32-DDCE39A9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051560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AI 产出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6D58B8B-2B25-48A5-AA53-1B6FD80C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463040"/>
            <a:ext cx="30175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→ adrs/ 架构文档 + 迭代 specs/ 四文件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→ requirements.md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→ plan.md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→ tasks.md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→ check.md</a:t>
            </a:r>
            <a:endParaRPr sz="1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68D65C6-F7DA-4082-8037-2E039BCC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24CF889-04D1-42B6-A308-3D557C4A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4848734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5BCBC88-4063-4DD4-9194-092BC150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9398600-418F-4866-A6E5-E2611748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6649B32-A1ED-4714-8A03-5A0F84B4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Step 3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方案评审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C09C795-4685-498D-920C-32655F67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28DD6EA-74F6-4116-B5FF-147BB494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唯一必须真人碰面的节点 — spec 通过评审前 AI 不能编码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690734E-A4FC-4383-A8A0-90B39DCB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198CC10-AAD6-4261-A2AC-A8B31AEC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2763C1D-F088-4B61-916D-075E4217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PM 审：业务匹配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D02AC1C-EBB1-427E-92E0-CB870FE6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371600"/>
            <a:ext cx="3017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这个 spec 能解决 sprint 里的业务需求吗？</a:t>
            </a:r>
            <a:endParaRPr sz="1000"/>
          </a:p>
          <a:p xmlns:a="http://schemas.openxmlformats.org/drawingml/2006/main">
            <a:pPr marL="0" indent="0">
              <a:buNone/>
            </a:pP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PM 看不懂 → spec 不合格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9F4426D-AA03-4A40-A1B1-A700BBE3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3A43A49-5C75-4A75-8686-4C8265A8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DC7E155-9139-4756-949E-733060EA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TL 审：架构合理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58B852F-56FC-4B50-B843-EB228DE9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371600"/>
            <a:ext cx="3017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方案可行？边界清晰？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跨模块依赖处理正确？</a:t>
            </a:r>
            <a:endParaRPr sz="1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C6D8159-1042-4FDD-A89F-8D288B02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017520"/>
            <a:ext cx="676656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917818B-441A-4115-ABD0-344B31C5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10896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评审结论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B5F246D-C06F-4897-824A-C7EA4FA1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474720"/>
            <a:ext cx="6492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✅ 通过 → 进入 Step 4 AI 编码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🔁 需修改 → 打回 Step 2，Dev+AI 改 spec 后重审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373FE6E0-1884-4927-9373-A72DE591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F5BBF1D-ABBA-4107-91E1-0851A27D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261246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474A648-19A6-474F-A3F8-A3473256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287A184-4F3E-413B-A08B-71064BA8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09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707A5E2-D139-4407-B241-DF9ED05A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Step 4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AI 编码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075C38C-B96C-4586-8E73-FEB16ECA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3B7C38C-5EAE-4318-865E-4D7AF91A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输入：已通过评审的 requirements.md + plan.md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AE24481-4667-4D52-8719-9AA5BEE6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005840"/>
            <a:ext cx="11887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E83BDE2-4266-4566-B9CD-FAD2FE1A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005840"/>
            <a:ext cx="118872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2C461DF-DD35-4014-A6A5-42730BF8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060704"/>
            <a:ext cx="1188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1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B9BEC4B-8256-4523-AACB-8B1B8D22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32588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读 requirements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理解方案</a:t>
            </a:r>
            <a:endParaRPr sz="9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4BFFC10-EA1E-4168-9A4B-6BD4C441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137160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01D9325-7339-4F92-9415-29DA857A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005840"/>
            <a:ext cx="11887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E74EE66-C280-48FB-B461-9B67562D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005840"/>
            <a:ext cx="118872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7C7056A-D724-46D4-9DF8-D7EE5FE1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060704"/>
            <a:ext cx="1188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2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8B3C01C-9BF7-43FD-A964-FED785DF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132588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按 plan.md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逐文件实现</a:t>
            </a:r>
            <a:endParaRPr sz="9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BAD7E03-EAD7-4AC5-A299-E535D395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37160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14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5C1118B-3CC1-4EAB-A65A-6CA04CF8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05840"/>
            <a:ext cx="11887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DA8F81B-9326-4C47-A582-FAA6B473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05840"/>
            <a:ext cx="118872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67D5087-4F4E-42D6-A1A5-858D5459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60704"/>
            <a:ext cx="1188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3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4F27D92-35A9-4A46-A562-E591BDEE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32588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更新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tasks.md 状态</a:t>
            </a:r>
            <a:endParaRPr sz="9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31443C3-CF96-46F1-A656-818A8669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37160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14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E743DAB-271B-41CD-9C84-99E00817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005840"/>
            <a:ext cx="11887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67F5B63-B943-4C14-9918-A9D09972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005840"/>
            <a:ext cx="118872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E1DF543-F16B-483A-9B51-0CA09331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060704"/>
            <a:ext cx="1188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4</a:t>
            </a:r>
            <a:endParaRPr sz="1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09A64B3-1E62-46AE-A4E7-6273DBAB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32588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自检: typecheck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build + curl</a:t>
            </a:r>
            <a:endParaRPr sz="9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7046885-CEDC-4751-9F8B-F1C13DB0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37160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14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34CF0E63-CACC-4A88-835C-9D063CD1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005840"/>
            <a:ext cx="11887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894E5EF-9BB9-47D9-989C-B3DE1F19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005840"/>
            <a:ext cx="118872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99D9580-7CD3-4E21-8BDA-CCA5D9A3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060704"/>
            <a:ext cx="1188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5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B1DD665-8FBC-468A-96B6-7D4B9539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32588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展示改动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等确认→提交</a:t>
            </a:r>
            <a:endParaRPr sz="9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53BD929-150C-469C-A336-3B3B1D44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743200"/>
            <a:ext cx="676656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A5B8D00-DC30-49AA-9444-1A5C689B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743200"/>
            <a:ext cx="676656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92C0CBD-3BE3-439A-B662-D45CCE41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2852928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⛔ 禁止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E72F9E5C-BB89-4B93-81C8-99D8BA67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20040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❌ 不读 spec 直接写代码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❌ 边写边改方案（改方案必须回 Step 2/3）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❌ 自动 git commit/push（展示改动等确认）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❌ 每次任务全量重读 docs/（按 P0/P1/P2 按需读取）</a:t>
            </a:r>
            <a:endParaRPr sz="100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984413A5-B0B7-47E0-BAD1-4ECE5B0C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64DAB28-92FE-4B99-9113-96467390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2024337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01C9A09-F34C-4825-91E8-0D4791E0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352A83B-64BD-41BF-949F-04E18D56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4AD514D-97E6-4BB6-ABD1-822BCF69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Step 5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Dev 收尾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E610CF8-65BF-40F8-B0FA-572B0F13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D00D6CD-27A6-4881-93D1-D7BABC3A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AI 擅长 80%，人必须做那 20%</a:t>
            </a:r>
            <a:endParaRPr sz="1100"/>
          </a:p>
        </p:txBody>
      </p:sp>
      <p:graphicFrame>
        <p:nvGraphicFramePr>
          <p:cNvPr id="19" name="Table 0"/>
          <p:cNvGraphicFramePr/>
          <p:nvPr/>
        </p:nvGraphicFramePr>
        <p:xfrm>
          <a:off xmlns:a="http://schemas.openxmlformats.org/drawingml/2006/main" x="1920240" y="914400"/>
          <a:ext xmlns:a="http://schemas.openxmlformats.org/drawingml/2006/main" cx="67665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1828800"/>
                <a:gridCol w="3108960"/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检查项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AI 覆盖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人必须做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</a:rPr>
                        <a:t>逻辑正确性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>
                          <a:solidFill>
                            <a:srgbClr val="059669"/>
                          </a:solidFill>
                        </a:rPr>
                        <a:t>⭐⭐⭐ 标准路径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DC2626"/>
                          </a:solidFill>
                        </a:rPr>
                        <a:t>🔴 边界情况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</a:rPr>
                        <a:t>UI 细节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>
                          <a:solidFill>
                            <a:srgbClr val="059669"/>
                          </a:solidFill>
                        </a:rPr>
                        <a:t>⭐⭐ 布局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DC2626"/>
                          </a:solidFill>
                        </a:rPr>
                        <a:t>🔴 细微交互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</a:rPr>
                        <a:t>错误处理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>
                          <a:solidFill>
                            <a:srgbClr val="059669"/>
                          </a:solidFill>
                        </a:rPr>
                        <a:t>⭐⭐ 主线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DC2626"/>
                          </a:solidFill>
                        </a:rPr>
                        <a:t>🔴 异常组合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</a:rPr>
                        <a:t>安全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>
                          <a:solidFill>
                            <a:srgbClr val="059669"/>
                          </a:solidFill>
                        </a:rPr>
                        <a:t>⭐ 常见注入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DC2626"/>
                          </a:solidFill>
                        </a:rPr>
                        <a:t>🔴 权限/泄露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</a:rPr>
                        <a:t>集成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>
                          <a:solidFill>
                            <a:srgbClr val="059669"/>
                          </a:solidFill>
                        </a:rPr>
                        <a:t>⭐⭐ 单模块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DC2626"/>
                          </a:solidFill>
                        </a:rPr>
                        <a:t>🔴 跨模块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CBD5CBB-8D10-4285-9961-4D7C3E84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429000"/>
            <a:ext cx="67665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C384536-9C17-407D-BB9D-CA67763D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52044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QA 验收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EC7857B-F8D4-41AA-86B8-DEB2C5D8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79476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跑 check.md 全部步骤 → 签署 done     |     人管边界，AI 管标准 — 互补不是替代</a:t>
            </a:r>
            <a:endParaRPr sz="10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5E1C941-05A1-46F0-B730-37A628AF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84B236B-F8BA-4199-A239-778C5E9F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4515578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2894765-83B3-486E-BE5F-1E365971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FC3DFC9-FC91-4BE7-9825-C203A7AA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3AA2A31-ADDF-4DC7-96A2-9B8554AA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角色边界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3062BD8-6879-4158-8B4B-7B3E2883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AFEF3BE-8230-43EC-8064-D37F2F14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324612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B423EDB-76AD-45B7-8853-D87691A2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3E13091-413E-421D-83B2-7715CC20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6126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1B17B9C-0E8F-4015-B5C1-C2A27E38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6126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PM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24145F9-4D99-45B5-AA6C-F8E9F881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612648"/>
            <a:ext cx="2286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docs/ 产品文档 + sprints/ 冲刺 + prototypes/ 原型</a:t>
            </a:r>
            <a:endParaRPr sz="1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2267318-A3B6-4B49-B375-4600FBBE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325880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核心: 业务流程、验收条件、术语表</a:t>
            </a:r>
            <a:endParaRPr sz="9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D3DF3BB-A599-4F1E-8EE6-17FA4ED6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7200"/>
            <a:ext cx="324612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8498A6A-2A73-459B-AC0E-28FBB928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72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BF393B0-E3D6-4596-BCBB-19BC3489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6126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7538AE5-B803-457C-BDB7-69D10172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6126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Dev/TL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E6C3C94-1073-4194-8C13-537BCDC6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612648"/>
            <a:ext cx="2286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adrs/ + 审 spec + 修边界 bug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8FB773A-023B-457C-8790-85F31E1F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325880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核心: 架构决策、方案评审</a:t>
            </a:r>
            <a:endParaRPr sz="9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B47AA34-FF30-4BD9-BFA9-5B6750F4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324612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D77D797-2825-436C-93ED-090DF73F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DCBE650-B533-46A3-8432-074537B1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414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4752DE3-F94B-447B-948D-0D96FE7A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414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</a:t>
            </a:r>
            <a:endParaRPr sz="1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DE463F6-2A22-4974-8E3D-76350C40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2441448"/>
            <a:ext cx="2286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sprints/*/specs/ 四文件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+ 按 spec 编码 + 自检</a:t>
            </a:r>
            <a:endParaRPr sz="1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43BCDC7-631E-41F6-B489-B1F72903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54680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核心: 模块方案、标准化编码</a:t>
            </a:r>
            <a:endParaRPr sz="9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DE9D5DD-E556-4CF0-AAE4-EB98FB7B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286000"/>
            <a:ext cx="324612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B1EC47C-C6A9-4FF2-9698-41761DD6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2860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EF026D3-EE8F-44A5-9CC2-B0A34AA4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4414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31E0D10-C592-4E11-8FED-888D9454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4414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QA</a:t>
            </a:r>
            <a:endParaRPr sz="10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726C40-9FDA-465E-ACB5-CFF84335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441448"/>
            <a:ext cx="2286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跑 check.md → 签署 done</a:t>
            </a:r>
            <a:endParaRPr sz="1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BD8AC0C-C42C-40BC-9D62-25601A92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154680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核心: 回归范围、人工验收</a:t>
            </a:r>
            <a:endParaRPr sz="900"/>
          </a:p>
        </p:txBody>
      </p:sp>
      <p:sp>
        <p:nvSpPr>
          <p:cNvPr id="32" name="Shape 16">
            <a:extLst xmlns:a="http://schemas.openxmlformats.org/drawingml/2006/main">
              <a:ext uri="{FF2B5EF4-FFF2-40B4-BE49-F238E27FC236}">
                <a16:creationId xmlns:a16="http://schemas.microsoft.com/office/drawing/2014/main" id="{28756633-478B-4E0D-A119-B08599F9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950208"/>
            <a:ext cx="6858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17">
            <a:extLst xmlns:a="http://schemas.openxmlformats.org/drawingml/2006/main">
              <a:ext uri="{FF2B5EF4-FFF2-40B4-BE49-F238E27FC236}">
                <a16:creationId xmlns:a16="http://schemas.microsoft.com/office/drawing/2014/main" id="{E025EB91-49AB-41E3-922B-2004B4C6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950208"/>
            <a:ext cx="54864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18">
            <a:extLst xmlns:a="http://schemas.openxmlformats.org/drawingml/2006/main">
              <a:ext uri="{FF2B5EF4-FFF2-40B4-BE49-F238E27FC236}">
                <a16:creationId xmlns:a16="http://schemas.microsoft.com/office/drawing/2014/main" id="{DD05752A-5524-408A-8A38-5CEC4FFA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416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963A2FE3-5949-4B66-946E-52C5172B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416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Ops</a:t>
            </a:r>
            <a:endParaRPr sz="100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6321AEC0-F6C5-440E-ABA7-B3A419EF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41648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assets/</a:t>
            </a:r>
            <a:endParaRPr sz="1000"/>
          </a:p>
        </p:txBody>
      </p:sp>
      <p:sp>
        <p:nvSpPr>
          <p:cNvPr id="37" name="Text 21">
            <a:extLst xmlns:a="http://schemas.openxmlformats.org/drawingml/2006/main">
              <a:ext uri="{FF2B5EF4-FFF2-40B4-BE49-F238E27FC236}">
                <a16:creationId xmlns:a16="http://schemas.microsoft.com/office/drawing/2014/main" id="{A7E95C41-624C-4F80-8000-3D8C68BE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041648"/>
            <a:ext cx="3566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部署 / 配置 / 接口 / 手册</a:t>
            </a:r>
            <a:endParaRPr sz="9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714EB29-CDDE-44E9-BCEC-CC6E45E6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FADCA5E-2780-4031-B437-07BD75CC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382113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4EF7B26-DCDD-4252-96C4-FF5A2645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F61B271-FD01-4910-A991-9FA5A83E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92273BF-36C0-471B-93C0-AF052F05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FAQ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0770A2F-73D2-4B32-A320-DE0EE803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C5B5205-A498-4461-AFFC-B3A98C61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68CCAA6-3B8D-4F02-AEA0-CF77D75D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20E9088-AAD3-4BDA-B57A-4C009608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38912"/>
            <a:ext cx="6400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Q: 一个 sprint 多个功能？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11A2D80-E99C-41C6-B770-DC604255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74980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A: 每个功能一个 spec，Step 2-3 可并行</a:t>
            </a:r>
            <a:endParaRPr sz="10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510CE94-1908-4CAF-903E-015D4CE0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32588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29D1D41-285D-4462-A923-AA06D04B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32588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D280EB3-2E6B-402C-BEB3-99885120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399032"/>
            <a:ext cx="6400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Q: 写 spec 发现 sprint 有问题？</a:t>
            </a:r>
            <a:endParaRPr sz="11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FB45895-2CE7-465C-8151-1E22D6A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7099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A: 打回 Step 1，PM 修。不在 spec 里改业务</a:t>
            </a:r>
            <a:endParaRPr sz="1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E318ABB-BB87-4F7F-832C-C257F27F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CB479A0-386E-40CE-B64C-C0EAB6D3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B5B809C-4AE4-4EC7-A577-73AA35AD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359152"/>
            <a:ext cx="6400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Q: AI 代码有问题？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072B9BD-0961-4A34-8608-4FC17367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67004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A: 小 bug → Step 5 修。方向不对 → 回 Step 2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3F029624-844E-498E-A5AF-77B9BF19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24612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BFD0116-A0FF-4D45-81BB-FF5BBA36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24612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4D241E6-5DB6-478D-9161-8C4ECBDC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319272"/>
            <a:ext cx="6400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Q: 谁验收 check.md？</a:t>
            </a:r>
            <a:endParaRPr sz="11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BE7F7E1-3106-4B64-8D1A-A6045053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63016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A: QA 跑。无 QA 则 Dev 验收，PM 确认业务条件</a:t>
            </a:r>
            <a:endParaRPr sz="10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DCA5428-9C59-4AB5-9335-E050841A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A016202-374F-4824-BD9B-43A5D713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728125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6203248-56CC-4B07-BF52-EAC9A32E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42E1EFA-4078-442E-AB79-BE0C80E2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2068B01-F9BB-4901-B32F-162B2E02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跨模块协作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23757F1-3D2F-4044-8C42-E9011230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5CA5F4-71E3-4D37-BFF5-7F385CF0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当 spec 依赖其他 spec 时，使用 Context Contract（≤15 行）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7982F0E-AEA2-471C-BAC7-FF2982DC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ED43725-2CBB-4113-94E8-DECAFDF0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10EC418-3B2A-40E4-BEA6-F4C3AB39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Context Contract</a:t>
            </a:r>
            <a:endParaRPr sz="1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CF4ADDD-34B2-4A57-8E5E-6625863B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417320"/>
            <a:ext cx="30175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## Context from Dependencies</a:t>
            </a:r>
            <a:endParaRPr sz="900"/>
          </a:p>
          <a:p xmlns:a="http://schemas.openxmlformats.org/drawingml/2006/main">
            <a:pPr marL="0" indent="0">
              <a:buNone/>
            </a:pPr>
            <a:endParaRPr sz="900"/>
          </a:p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### spec-002 (后端认证服务)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POST /api/auth/login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GET /api/users/me</a:t>
            </a:r>
            <a:endParaRPr sz="9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7EC2451-1E8F-4DA1-9BC5-640B630E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3C38B13-1A9F-4CBC-BE00-966F54C6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51EAE15-CCF4-40F2-8CDD-D1F4A860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拆层验证法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35C2F7E-919E-49DE-80F5-66101174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417320"/>
            <a:ext cx="30175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自底向上：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① 合约层 — 接口定义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② API 路由层 — 路由绑定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③ 数据层 — ORM/DB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④ UI 层 — 前端组件</a:t>
            </a:r>
            <a:endParaRPr sz="900"/>
          </a:p>
          <a:p xmlns:a="http://schemas.openxmlformats.org/drawingml/2006/main">
            <a:pPr marL="0" indent="0">
              <a:buNone/>
            </a:pP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组合各 spec 的 check.md</a:t>
            </a:r>
            <a:endParaRPr sz="9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C608AD0-7D55-41AF-A827-F4D274FF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9A9FCD1-36AC-471A-B822-1F07B4E0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492331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A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4931108-1367-459B-9501-651988AF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1C13D3-AB4F-4034-A6A1-A3F6C964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57C742F-E5FE-4DCC-908A-7DD6B31B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8046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spc="6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SSOT</a:t>
            </a:r>
            <a:endParaRPr sz="1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A55068A-A0D6-49B9-A230-44B67B2E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8640"/>
            <a:ext cx="8046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五句话总结</a:t>
            </a:r>
            <a:endParaRPr sz="26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0D6185-C7CC-4917-BC42-B84DDBE4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80467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0A6B12D-CB88-4188-992E-9BE6FAA2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3657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①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69CBCCA-CF80-4ECC-9499-244488D9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28016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PM 写清楚业务（docs + sprints），不写技术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DC3705F-7EAC-4F51-893C-AF5727D7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80467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66CD2BE-6338-48B4-8F4E-08BDEF5D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3657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②</a:t>
            </a:r>
            <a:endParaRPr sz="1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6A1F590-329A-42DB-B8A4-DDB3B4AA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82880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Dev 给方向，AI 写完整方案（ADR + specs）</a:t>
            </a:r>
            <a:endParaRPr sz="12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E1B742F-51EC-4033-9CB4-56384E77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77440"/>
            <a:ext cx="80467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5C0CCCB-6FD6-4C83-AE37-F2882FFE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3657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③</a:t>
            </a:r>
            <a:endParaRPr sz="14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03C0A1-EDB4-4231-B4B4-FF5AB154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37744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方案必须评审，PM 说看不懂 = 不合格</a:t>
            </a:r>
            <a:endParaRPr sz="12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69EABBD-3D76-4C62-8EF5-985FED61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80467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6F12DA4-4E6F-408F-A902-127EAB1C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657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④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1FF24F3-60CF-4499-8CEF-97F4643F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92608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按 spec 编码，不跳步骤不改方案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A3E63B6-BE18-4FCB-AD15-DB828138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0"/>
            <a:ext cx="80467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5E0097C-663D-437F-98C9-3279CB5B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74720"/>
            <a:ext cx="3657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⑤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84D69D2-A5B0-4D23-8567-171D0EEF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47472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人管边界，AI 管标准 — 互补不是替代</a:t>
            </a:r>
            <a:endParaRPr sz="12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20F68B3-51D0-40B8-8F28-D3FA0384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80467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BB15B29-554B-4369-8170-54EC17B1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8046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完整规范：ssot-convention.zh.md    AI 入口：AGENTS.md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092184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2026-10-07T04:12:06.5570000Z</dcterms:created>
  <dcterms:modified xsi:type="dcterms:W3CDTF">2026-10-07T04:12:06.5570000Z</dcterms:modified>
</coreProperties>
</file>