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c5253a86b4f40e8" /><Relationship Type="http://schemas.openxmlformats.org/officeDocument/2006/relationships/extended-properties" Target="/docProps/app.xml" Id="Rebc0ac2d32064d07" /><Relationship Type="http://schemas.openxmlformats.org/officeDocument/2006/relationships/officeDocument" Target="/ppt/presentation.xml" Id="R0456d7887e91428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c6ec3af9b2e4b2c"/>
  </p:sldMasterIdLst>
  <p:notesMasterIdLst>
    <p:notesMasterId xmlns:r="http://schemas.openxmlformats.org/officeDocument/2006/relationships" r:id="R7ec0b9b29aa94887"/>
  </p:notesMasterIdLst>
  <p:sldIdLst>
    <p:sldId xmlns:r="http://schemas.openxmlformats.org/officeDocument/2006/relationships" id="256" r:id="Radaec883412e4b20"/>
    <p:sldId xmlns:r="http://schemas.openxmlformats.org/officeDocument/2006/relationships" id="257" r:id="R5a0987a4a1194f21"/>
    <p:sldId xmlns:r="http://schemas.openxmlformats.org/officeDocument/2006/relationships" id="258" r:id="Rbc3b85ab4ca34188"/>
    <p:sldId xmlns:r="http://schemas.openxmlformats.org/officeDocument/2006/relationships" id="259" r:id="Rbbb829e5c2f24e34"/>
    <p:sldId xmlns:r="http://schemas.openxmlformats.org/officeDocument/2006/relationships" id="260" r:id="R86a9e4ac5992432c"/>
    <p:sldId xmlns:r="http://schemas.openxmlformats.org/officeDocument/2006/relationships" id="261" r:id="Rd9e107fe5dec45d6"/>
    <p:sldId xmlns:r="http://schemas.openxmlformats.org/officeDocument/2006/relationships" id="262" r:id="R76e871391c6d4a32"/>
    <p:sldId xmlns:r="http://schemas.openxmlformats.org/officeDocument/2006/relationships" id="263" r:id="R541383bc309a4dab"/>
    <p:sldId xmlns:r="http://schemas.openxmlformats.org/officeDocument/2006/relationships" id="264" r:id="R90fba8b6a1934394"/>
    <p:sldId xmlns:r="http://schemas.openxmlformats.org/officeDocument/2006/relationships" id="265" r:id="Rcf3371da901a4134"/>
    <p:sldId xmlns:r="http://schemas.openxmlformats.org/officeDocument/2006/relationships" id="266" r:id="R3c026c83be394bc5"/>
    <p:sldId xmlns:r="http://schemas.openxmlformats.org/officeDocument/2006/relationships" id="267" r:id="Rc140b623b33c41f5"/>
    <p:sldId xmlns:r="http://schemas.openxmlformats.org/officeDocument/2006/relationships" id="268" r:id="R0c67fa96a44f4792"/>
    <p:sldId xmlns:r="http://schemas.openxmlformats.org/officeDocument/2006/relationships" id="269" r:id="Rf1f609215ac94b22"/>
    <p:sldId xmlns:r="http://schemas.openxmlformats.org/officeDocument/2006/relationships" id="270" r:id="Ra2f780905aa949d7"/>
    <p:sldId xmlns:r="http://schemas.openxmlformats.org/officeDocument/2006/relationships" id="271" r:id="R4f05a4c0cccf4dec"/>
  </p:sldIdLst>
  <p:sldSz cx="9144000" cy="5143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19fbe5091cc483b" /><Relationship Type="http://schemas.openxmlformats.org/officeDocument/2006/relationships/slideMaster" Target="/ppt/slideMasters/slideMaster1.xml" Id="R8c6ec3af9b2e4b2c" /><Relationship Type="http://schemas.openxmlformats.org/officeDocument/2006/relationships/notesMaster" Target="/ppt/notesMasters/notesMaster1.xml" Id="R7ec0b9b29aa94887" /><Relationship Type="http://schemas.openxmlformats.org/officeDocument/2006/relationships/presProps" Target="/ppt/presProps.xml" Id="R71e28bcc8c1845fe" /><Relationship Type="http://schemas.openxmlformats.org/officeDocument/2006/relationships/viewProps" Target="/ppt/viewProps.xml" Id="R5a736354786e4ad5" /><Relationship Type="http://schemas.openxmlformats.org/officeDocument/2006/relationships/tableStyles" Target="/ppt/tableStyles.xml" Id="R50611d72c1ec4232" /><Relationship Type="http://schemas.openxmlformats.org/officeDocument/2006/relationships/slide" Target="/ppt/slides/slide1.xml" Id="Radaec883412e4b20" /><Relationship Type="http://schemas.openxmlformats.org/officeDocument/2006/relationships/slide" Target="/ppt/slides/slide2.xml" Id="R5a0987a4a1194f21" /><Relationship Type="http://schemas.openxmlformats.org/officeDocument/2006/relationships/slide" Target="/ppt/slides/slide3.xml" Id="Rbc3b85ab4ca34188" /><Relationship Type="http://schemas.openxmlformats.org/officeDocument/2006/relationships/slide" Target="/ppt/slides/slide4.xml" Id="Rbbb829e5c2f24e34" /><Relationship Type="http://schemas.openxmlformats.org/officeDocument/2006/relationships/slide" Target="/ppt/slides/slide5.xml" Id="R86a9e4ac5992432c" /><Relationship Type="http://schemas.openxmlformats.org/officeDocument/2006/relationships/slide" Target="/ppt/slides/slide6.xml" Id="Rd9e107fe5dec45d6" /><Relationship Type="http://schemas.openxmlformats.org/officeDocument/2006/relationships/slide" Target="/ppt/slides/slide7.xml" Id="R76e871391c6d4a32" /><Relationship Type="http://schemas.openxmlformats.org/officeDocument/2006/relationships/slide" Target="/ppt/slides/slide8.xml" Id="R541383bc309a4dab" /><Relationship Type="http://schemas.openxmlformats.org/officeDocument/2006/relationships/slide" Target="/ppt/slides/slide9.xml" Id="R90fba8b6a1934394" /><Relationship Type="http://schemas.openxmlformats.org/officeDocument/2006/relationships/slide" Target="/ppt/slides/slide10.xml" Id="Rcf3371da901a4134" /><Relationship Type="http://schemas.openxmlformats.org/officeDocument/2006/relationships/slide" Target="/ppt/slides/slide11.xml" Id="R3c026c83be394bc5" /><Relationship Type="http://schemas.openxmlformats.org/officeDocument/2006/relationships/slide" Target="/ppt/slides/slide12.xml" Id="Rc140b623b33c41f5" /><Relationship Type="http://schemas.openxmlformats.org/officeDocument/2006/relationships/slide" Target="/ppt/slides/slide13.xml" Id="R0c67fa96a44f4792" /><Relationship Type="http://schemas.openxmlformats.org/officeDocument/2006/relationships/slide" Target="/ppt/slides/slide14.xml" Id="Rf1f609215ac94b22" /><Relationship Type="http://schemas.openxmlformats.org/officeDocument/2006/relationships/slide" Target="/ppt/slides/slide15.xml" Id="Ra2f780905aa949d7" /><Relationship Type="http://schemas.openxmlformats.org/officeDocument/2006/relationships/slide" Target="/ppt/slides/slide16.xml" Id="R4f05a4c0cccf4de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b3a6cdc94bb4b1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32be42465244a0d" /><Relationship Type="http://schemas.openxmlformats.org/officeDocument/2006/relationships/notesMaster" Target="/ppt/notesMasters/notesMaster1.xml" Id="R1029c37607da48c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1738dbfc85d438e" /><Relationship Type="http://schemas.openxmlformats.org/officeDocument/2006/relationships/notesMaster" Target="/ppt/notesMasters/notesMaster1.xml" Id="R8aea3f861eb2466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39ab0e41a1d4425" /><Relationship Type="http://schemas.openxmlformats.org/officeDocument/2006/relationships/notesMaster" Target="/ppt/notesMasters/notesMaster1.xml" Id="R6b08e82303414a5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e1eeff723984983" /><Relationship Type="http://schemas.openxmlformats.org/officeDocument/2006/relationships/notesMaster" Target="/ppt/notesMasters/notesMaster1.xml" Id="R55b1602ce971445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6e120bd13714be0" /><Relationship Type="http://schemas.openxmlformats.org/officeDocument/2006/relationships/notesMaster" Target="/ppt/notesMasters/notesMaster1.xml" Id="R44166cadb7ba4a0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79682e0747843a3" /><Relationship Type="http://schemas.openxmlformats.org/officeDocument/2006/relationships/notesMaster" Target="/ppt/notesMasters/notesMaster1.xml" Id="R99cfbf3a1846469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d6daafa5e95440e" /><Relationship Type="http://schemas.openxmlformats.org/officeDocument/2006/relationships/notesMaster" Target="/ppt/notesMasters/notesMaster1.xml" Id="Rc3c5ae5373764d6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878efe09e8146cc" /><Relationship Type="http://schemas.openxmlformats.org/officeDocument/2006/relationships/notesMaster" Target="/ppt/notesMasters/notesMaster1.xml" Id="R1dfd5f0776074b0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785dab6850e4346" /><Relationship Type="http://schemas.openxmlformats.org/officeDocument/2006/relationships/notesMaster" Target="/ppt/notesMasters/notesMaster1.xml" Id="R73d7c3c83cae44f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c269599830d44e1" /><Relationship Type="http://schemas.openxmlformats.org/officeDocument/2006/relationships/notesMaster" Target="/ppt/notesMasters/notesMaster1.xml" Id="R469253e55a77447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7d3784288e54ddb" /><Relationship Type="http://schemas.openxmlformats.org/officeDocument/2006/relationships/notesMaster" Target="/ppt/notesMasters/notesMaster1.xml" Id="R5490c94b7a28439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e88f3d416214800" /><Relationship Type="http://schemas.openxmlformats.org/officeDocument/2006/relationships/notesMaster" Target="/ppt/notesMasters/notesMaster1.xml" Id="R42e7d6d36a5448f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cb1fe8b450a4df7" /><Relationship Type="http://schemas.openxmlformats.org/officeDocument/2006/relationships/notesMaster" Target="/ppt/notesMasters/notesMaster1.xml" Id="R3ce8beada00e4d3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73ec4380dad4918" /><Relationship Type="http://schemas.openxmlformats.org/officeDocument/2006/relationships/notesMaster" Target="/ppt/notesMasters/notesMaster1.xml" Id="R5d04d80d1c35425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4782b22744d45a2" /><Relationship Type="http://schemas.openxmlformats.org/officeDocument/2006/relationships/notesMaster" Target="/ppt/notesMasters/notesMaster1.xml" Id="R8f71d83fe336450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1517b3c2d224750" /><Relationship Type="http://schemas.openxmlformats.org/officeDocument/2006/relationships/notesMaster" Target="/ppt/notesMasters/notesMaster1.xml" Id="R6068b3671ce445b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35b15ea553d4800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dcf145b69ad4f9e" /><Relationship Type="http://schemas.openxmlformats.org/officeDocument/2006/relationships/slideLayout" Target="/ppt/slideLayouts/slideLayout1.xml" Id="Rb91c7885fed045ea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91c7885fed045ea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d675cc9cb74fc7" /><Relationship Type="http://schemas.openxmlformats.org/officeDocument/2006/relationships/notesSlide" Target="/ppt/notesSlides/notesSlide1.xml" Id="R4cdef3dc3a86463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4058cdddcc45b7" /><Relationship Type="http://schemas.openxmlformats.org/officeDocument/2006/relationships/notesSlide" Target="/ppt/notesSlides/notesSlide2.xml" Id="Re51b7a6ef27440a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ef88f8369b4b05" /><Relationship Type="http://schemas.openxmlformats.org/officeDocument/2006/relationships/notesSlide" Target="/ppt/notesSlides/notesSlide3.xml" Id="Rf72a031bb42f454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870d2b3a8b4bee" /><Relationship Type="http://schemas.openxmlformats.org/officeDocument/2006/relationships/notesSlide" Target="/ppt/notesSlides/notesSlide4.xml" Id="Rae276cb50dee4c2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d31a78e07d48a8" /><Relationship Type="http://schemas.openxmlformats.org/officeDocument/2006/relationships/notesSlide" Target="/ppt/notesSlides/notesSlide5.xml" Id="R3445b699b2c543a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79e45afe894462" /><Relationship Type="http://schemas.openxmlformats.org/officeDocument/2006/relationships/notesSlide" Target="/ppt/notesSlides/notesSlide6.xml" Id="Re5dfe162c064493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92a9f89d2e45af" /><Relationship Type="http://schemas.openxmlformats.org/officeDocument/2006/relationships/notesSlide" Target="/ppt/notesSlides/notesSlide7.xml" Id="R899309ef2fad49c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6b1fad6dab46e0" /><Relationship Type="http://schemas.openxmlformats.org/officeDocument/2006/relationships/notesSlide" Target="/ppt/notesSlides/notesSlide8.xml" Id="R533997b68efb40f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17d59473d34fe1" /><Relationship Type="http://schemas.openxmlformats.org/officeDocument/2006/relationships/notesSlide" Target="/ppt/notesSlides/notesSlide9.xml" Id="Rf3c889ccfb1546a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ab9170b8b343b4" /><Relationship Type="http://schemas.openxmlformats.org/officeDocument/2006/relationships/notesSlide" Target="/ppt/notesSlides/notesSlide10.xml" Id="Rbddfaaa979964ca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8b8d12a0ba4f96" /><Relationship Type="http://schemas.openxmlformats.org/officeDocument/2006/relationships/notesSlide" Target="/ppt/notesSlides/notesSlide11.xml" Id="R8ea676c1eeaa49d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d0c511cd884b8e" /><Relationship Type="http://schemas.openxmlformats.org/officeDocument/2006/relationships/notesSlide" Target="/ppt/notesSlides/notesSlide12.xml" Id="Rda8b1af94f1044c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95fa6ca2ac4618" /><Relationship Type="http://schemas.openxmlformats.org/officeDocument/2006/relationships/notesSlide" Target="/ppt/notesSlides/notesSlide13.xml" Id="R669727e069964b1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21bc18a91b44c7" /><Relationship Type="http://schemas.openxmlformats.org/officeDocument/2006/relationships/notesSlide" Target="/ppt/notesSlides/notesSlide14.xml" Id="R427a87d6ecb1469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dc06aaf423480a" /><Relationship Type="http://schemas.openxmlformats.org/officeDocument/2006/relationships/notesSlide" Target="/ppt/notesSlides/notesSlide15.xml" Id="Rdc9a869eb505433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12599823a541f8" /><Relationship Type="http://schemas.openxmlformats.org/officeDocument/2006/relationships/notesSlide" Target="/ppt/notesSlides/notesSlide16.xml" Id="R7dc73abe23ed4ad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A365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012211AA-1677-4550-8264-4DC7496B3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91840"/>
            <a:ext cx="91440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948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D058BF8A-A6BC-48B9-AB74-147448489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57600"/>
            <a:ext cx="32004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9488">
              <a:alpha val="10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A90D2F81-2C87-4A55-AB1A-12BACABBF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31520"/>
            <a:ext cx="80467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800" b="1" spc="6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SSOT</a:t>
            </a:r>
            <a:endParaRPr sz="48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AB0818B7-8F37-4405-B777-E2CDE63A4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463040"/>
            <a:ext cx="80467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>
                <a:solidFill>
                  <a:srgbClr val="14B8A6"/>
                </a:solidFill>
                <a:latin typeface="Calibri"/>
                <a:ea typeface="Calibri"/>
                <a:cs typeface="Calibri"/>
              </a:rPr>
              <a:t>开发方法论</a:t>
            </a:r>
            <a:endParaRPr sz="28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CFFFF84-904D-47DC-99DB-9A151D52B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286000"/>
            <a:ext cx="80467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规格驱动开发 · 人机协作 · 五步流程</a:t>
            </a:r>
            <a:endParaRPr sz="14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A17B8C93-BE5E-4851-BDAF-81EE0C0F5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834640"/>
            <a:ext cx="80467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MIT License  ·  开源社区版</a:t>
            </a:r>
            <a:endParaRPr sz="12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13AA9A19-ADD8-474B-BC54-5F70882CA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09160"/>
            <a:ext cx="9144000" cy="4343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65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A71C1797-2D66-4101-A87E-F6008FDB4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09160"/>
            <a:ext cx="8229600" cy="4343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SSOT 开发方法论  |  MIT License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213540143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9273D831-90D0-45B6-871F-04BC38FC1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4592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65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0111C05-BE0D-43AF-A24D-E73D6D778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0040"/>
            <a:ext cx="16459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01</a:t>
            </a:r>
            <a:endParaRPr sz="28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4D810923-1841-4949-949D-572188E0B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868680"/>
            <a:ext cx="1463040" cy="228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>
                <a:solidFill>
                  <a:srgbClr val="14B8A6"/>
                </a:solidFill>
                <a:latin typeface="Calibri"/>
                <a:ea typeface="Calibri"/>
                <a:cs typeface="Calibri"/>
              </a:rPr>
              <a:t>为什么需要</a:t>
            </a:r>
            <a:endParaRPr sz="13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B62B600F-4E3A-48B8-984D-BFF110D1A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0"/>
            <a:ext cx="749808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948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E50B4C49-7B49-4047-AF49-F6CDEFBC2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365760"/>
            <a:ext cx="6766560" cy="777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effectLst xmlns:a="http://schemas.openxmlformats.org/drawingml/2006/main">
            <a:outerShdw blurRad="50800" dist="25400" dir="8100000" sx="100000" sy="100000" kx="0" ky="0" algn="bl" rotWithShape="0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84137EDB-18A1-4FB5-8F7E-83D6D07B9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365760"/>
            <a:ext cx="73152" cy="777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948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7977FF31-8A93-4B94-8B85-27DAC9D93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8840" y="457200"/>
            <a:ext cx="64008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PM 写 PRD → Dev 理解偏差 → 返工</a:t>
            </a:r>
            <a:endParaRPr sz="13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052CB768-0670-492E-9660-E083217EB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8840" y="795528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信息传递层层失真</a:t>
            </a:r>
            <a:endParaRPr sz="100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65B72249-56F6-4588-B678-664F1BE1C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1325880"/>
            <a:ext cx="6766560" cy="777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effectLst xmlns:a="http://schemas.openxmlformats.org/drawingml/2006/main">
            <a:outerShdw blurRad="50800" dist="25400" dir="8100000" sx="100000" sy="100000" kx="0" ky="0" algn="bl" rotWithShape="0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C4AA4E01-25F6-4B56-A468-C5F778CC9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1325880"/>
            <a:ext cx="73152" cy="777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948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CE008B43-A6B5-48D6-B72E-5CCFE9C8E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8840" y="1417320"/>
            <a:ext cx="64008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Dev 边写边改需求，没人知道最终做了什么</a:t>
            </a:r>
            <a:endParaRPr sz="13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325592C7-A78B-4139-878F-582243FDD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8840" y="1755648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缺乏需求锚点</a:t>
            </a:r>
            <a:endParaRPr sz="100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262705CB-0693-478F-AA5B-48BC788C8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2286000"/>
            <a:ext cx="6766560" cy="777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effectLst xmlns:a="http://schemas.openxmlformats.org/drawingml/2006/main">
            <a:outerShdw blurRad="50800" dist="25400" dir="8100000" sx="100000" sy="100000" kx="0" ky="0" algn="bl" rotWithShape="0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B71FD461-FB79-4DED-872F-F06ACDB9D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2286000"/>
            <a:ext cx="73152" cy="777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948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C03FFD5A-00D5-446C-BEB5-D1000F527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8840" y="2377440"/>
            <a:ext cx="64008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AI 写代码没有上下文，边写边问效率低</a:t>
            </a:r>
            <a:endParaRPr sz="13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AAC788A6-92DF-4914-B42F-DF8CEAF2A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8840" y="2715768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AI 用不上力</a:t>
            </a:r>
            <a:endParaRPr sz="100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209C941A-0FDC-461A-8631-289E458BC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3246120"/>
            <a:ext cx="6766560" cy="777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effectLst xmlns:a="http://schemas.openxmlformats.org/drawingml/2006/main">
            <a:outerShdw blurRad="50800" dist="25400" dir="8100000" sx="100000" sy="100000" kx="0" ky="0" algn="bl" rotWithShape="0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25461989-A1C6-441A-8199-EC3E46B1D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3246120"/>
            <a:ext cx="73152" cy="777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948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AA324E5D-1731-49AD-8DCC-CB428AB3C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8840" y="3337560"/>
            <a:ext cx="64008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产品、开发、AI 三者没有统一沟通语言</a:t>
            </a:r>
            <a:endParaRPr sz="13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8F905282-17C4-4A95-8E3B-B345593F6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8840" y="3675888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角色各自为政</a:t>
            </a:r>
            <a:endParaRPr sz="1000"/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8EB89BF9-F548-494F-B447-217788649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4023360"/>
            <a:ext cx="676656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2F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6486186C-06CB-4256-ADE7-470ED13CA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4023360"/>
            <a:ext cx="67665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DC2626"/>
                </a:solidFill>
                <a:latin typeface="Calibri"/>
                <a:ea typeface="Calibri"/>
                <a:cs typeface="Calibri"/>
              </a:rPr>
              <a:t>核心问题：缺一个「信任源」(Single Source of Truth)</a:t>
            </a:r>
            <a:endParaRPr sz="120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4BCF0B84-7519-4869-BDB8-1963C1E9D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09160"/>
            <a:ext cx="9144000" cy="4343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65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CA0107CA-7FF0-4A77-BBC4-7091405E5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09160"/>
            <a:ext cx="8229600" cy="4343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SSOT 开发方法论  |  MIT License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89035890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20360A68-C2E1-49AA-A254-8333559BC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4592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65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66DB0F1-FC6A-4C19-AB29-3C0BB2AA5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0040"/>
            <a:ext cx="16459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02</a:t>
            </a:r>
            <a:endParaRPr sz="28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B18E1864-ECE6-4CF4-AEBA-C3C4D3FA6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868680"/>
            <a:ext cx="1463040" cy="228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>
                <a:solidFill>
                  <a:srgbClr val="14B8A6"/>
                </a:solidFill>
                <a:latin typeface="Calibri"/>
                <a:ea typeface="Calibri"/>
                <a:cs typeface="Calibri"/>
              </a:rPr>
              <a:t>核心理念</a:t>
            </a:r>
            <a:endParaRPr sz="13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C9CA1F09-9B4A-41B1-807D-E948C24BB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0"/>
            <a:ext cx="749808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948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CFC998D0-8D40-4747-8810-8F79366A1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457200"/>
            <a:ext cx="3291840" cy="1554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effectLst xmlns:a="http://schemas.openxmlformats.org/drawingml/2006/main">
            <a:outerShdw blurRad="50800" dist="25400" dir="8100000" sx="100000" sy="100000" kx="0" ky="0" algn="bl" rotWithShape="0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CA784C5A-6ED8-4F78-85F0-A0F617784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457200"/>
            <a:ext cx="54864" cy="1554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948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3BCE84AB-F563-420F-9027-A8957A785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3120" y="731520"/>
            <a:ext cx="29260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所有决策在文档阶段决定</a:t>
            </a:r>
            <a:endParaRPr sz="13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111313E1-27B9-43EF-9453-55F1F54CA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3120" y="1234440"/>
            <a:ext cx="29260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不在编码阶段边写边改</a:t>
            </a:r>
            <a:endParaRPr sz="100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F37D5726-EC45-4ECA-B9CE-B82FEE6DB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57200"/>
            <a:ext cx="3291840" cy="1554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effectLst xmlns:a="http://schemas.openxmlformats.org/drawingml/2006/main">
            <a:outerShdw blurRad="50800" dist="25400" dir="8100000" sx="100000" sy="100000" kx="0" ky="0" algn="bl" rotWithShape="0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0591B6DD-3FA2-4FA7-9B2A-314CECE5F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57200"/>
            <a:ext cx="54864" cy="1554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6DF15DCC-AD25-4C0B-891D-CDED2C790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731520"/>
            <a:ext cx="29260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角色边界明确</a:t>
            </a:r>
            <a:endParaRPr sz="13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DBB410B6-048F-4D0E-BCA9-2AD022E05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1234440"/>
            <a:ext cx="29260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PM 出业务 · Dev 出方案 · AI 按规格执行</a:t>
            </a:r>
            <a:endParaRPr sz="100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C7244C26-BAE7-45C9-980E-7B8BB6F3C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2286000"/>
            <a:ext cx="3291840" cy="1554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effectLst xmlns:a="http://schemas.openxmlformats.org/drawingml/2006/main">
            <a:outerShdw blurRad="50800" dist="25400" dir="8100000" sx="100000" sy="100000" kx="0" ky="0" algn="bl" rotWithShape="0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A6F66353-1B16-4D8E-8616-BBB4C2BC1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2286000"/>
            <a:ext cx="54864" cy="1554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FBC9D708-A4E8-4784-AEBD-A710EB6B4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3120" y="2560320"/>
            <a:ext cx="29260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文档 + 原型 + 架构 + 规格 + 代码</a:t>
            </a:r>
            <a:endParaRPr sz="13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9627A563-4FAD-4E3D-AF09-25FBACC9B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3120" y="3063240"/>
            <a:ext cx="29260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一条完整的信任链</a:t>
            </a:r>
            <a:endParaRPr sz="100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E5BE9B79-00B5-4A95-802A-9A7D4B77B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286000"/>
            <a:ext cx="3291840" cy="1554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effectLst xmlns:a="http://schemas.openxmlformats.org/drawingml/2006/main">
            <a:outerShdw blurRad="50800" dist="25400" dir="8100000" sx="100000" sy="100000" kx="0" ky="0" algn="bl" rotWithShape="0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57F03DE1-4C6C-478E-A6D0-339D49373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286000"/>
            <a:ext cx="54864" cy="1554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948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7A0F6D94-6E86-4653-BED7-0453FDCA6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2560320"/>
            <a:ext cx="29260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AI 不跳步骤</a:t>
            </a:r>
            <a:endParaRPr sz="13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275B2EED-D534-4F46-B36B-BA62D424E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3063240"/>
            <a:ext cx="29260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通过 Step 3 评审后才能进入编码</a:t>
            </a:r>
            <a:endParaRPr sz="1000"/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ADB5A0CF-0691-4946-A8B3-42DF56A3F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09160"/>
            <a:ext cx="9144000" cy="4343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65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56E42F82-4F96-475A-A07D-F718FAED7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09160"/>
            <a:ext cx="8229600" cy="4343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SSOT 开发方法论  |  MIT License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202675633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367E874-B7EC-49A6-B540-7E270F1FD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4592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65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6ED2A657-F292-4C79-A27D-692E96E2B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0040"/>
            <a:ext cx="16459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03</a:t>
            </a:r>
            <a:endParaRPr sz="28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2ECDE7FF-3B96-4766-B570-D69594C45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868680"/>
            <a:ext cx="1463040" cy="228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>
                <a:solidFill>
                  <a:srgbClr val="14B8A6"/>
                </a:solidFill>
                <a:latin typeface="Calibri"/>
                <a:ea typeface="Calibri"/>
                <a:cs typeface="Calibri"/>
              </a:rPr>
              <a:t>目录结构</a:t>
            </a:r>
            <a:endParaRPr sz="13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C449C517-6489-4A34-97F7-96C9049B7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0"/>
            <a:ext cx="749808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948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640FA5D7-BD72-40E4-94C8-EF0656FD5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457200"/>
            <a:ext cx="3291840" cy="1554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effectLst xmlns:a="http://schemas.openxmlformats.org/drawingml/2006/main">
            <a:outerShdw blurRad="50800" dist="25400" dir="8100000" sx="100000" sy="100000" kx="0" ky="0" algn="bl" rotWithShape="0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7120E0F4-1AA0-406F-A76B-8BE3B5412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457200"/>
            <a:ext cx="329184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948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8A17C432-F08E-4607-8FEB-C9F2D512A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640080"/>
            <a:ext cx="50292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948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C5279311-EFE1-4C20-AC70-9EF456825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640080"/>
            <a:ext cx="5029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PM</a:t>
            </a:r>
            <a:endParaRPr sz="9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2FC25013-35D6-45C9-9C56-AABC58793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480" y="640080"/>
            <a:ext cx="2377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docs/ + sprints/</a:t>
            </a:r>
            <a:endParaRPr sz="13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C92C0353-3A9C-498D-8F8C-F29EDB0E8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1188720"/>
            <a:ext cx="30175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产品文档 + 冲刺容器</a:t>
            </a:r>
            <a:endParaRPr sz="10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C1506B64-62C5-4D7F-B724-E43BDA86E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57200"/>
            <a:ext cx="3291840" cy="1554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effectLst xmlns:a="http://schemas.openxmlformats.org/drawingml/2006/main">
            <a:outerShdw blurRad="50800" dist="25400" dir="8100000" sx="100000" sy="100000" kx="0" ky="0" algn="bl" rotWithShape="0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D684780F-CC99-43B9-B896-E9C166D01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57200"/>
            <a:ext cx="329184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5575BA70-4750-4BF2-B7AB-29672D743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640080"/>
            <a:ext cx="50292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A2F17D6E-D656-40D3-AA26-73E66C88F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640080"/>
            <a:ext cx="5029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Dev</a:t>
            </a:r>
            <a:endParaRPr sz="9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6C66D209-B642-47AE-BAB2-502D76FAE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640080"/>
            <a:ext cx="2377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apps/ / businesses/ / tools/</a:t>
            </a:r>
            <a:endParaRPr sz="13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F2C48F31-E3E8-4507-9A81-B2F4EB6B1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1188720"/>
            <a:ext cx="30175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纯代码域 框架项目（规格在迭代容器）</a:t>
            </a:r>
            <a:endParaRPr sz="100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BB8EC1D0-6324-4093-A92A-198793F16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2286000"/>
            <a:ext cx="3291840" cy="1554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effectLst xmlns:a="http://schemas.openxmlformats.org/drawingml/2006/main">
            <a:outerShdw blurRad="50800" dist="25400" dir="8100000" sx="100000" sy="100000" kx="0" ky="0" algn="bl" rotWithShape="0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EB887379-0454-4116-8FA7-F7195E5EE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2286000"/>
            <a:ext cx="329184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E7C5552E-580B-42FD-9DE9-6EDC250A0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468880"/>
            <a:ext cx="50292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D909EE11-3628-4AC8-B65E-4A9EBE6E9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468880"/>
            <a:ext cx="5029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架构</a:t>
            </a:r>
            <a:endParaRPr sz="9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24CF5C5C-C9C2-4E1D-8A21-870BE3C78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480" y="2468880"/>
            <a:ext cx="2377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architecture/</a:t>
            </a:r>
            <a:endParaRPr sz="13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F945728A-765C-443C-9BAF-3A9157AB8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017520"/>
            <a:ext cx="30175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当前架构 3 文件（无 README）</a:t>
            </a:r>
            <a:endParaRPr sz="1000"/>
          </a:p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+ adrs/ 单文件决策历史</a:t>
            </a:r>
            <a:endParaRPr sz="100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46B914BC-3619-482C-BECF-65C49EDA6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286000"/>
            <a:ext cx="3291840" cy="1554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effectLst xmlns:a="http://schemas.openxmlformats.org/drawingml/2006/main">
            <a:outerShdw blurRad="50800" dist="25400" dir="8100000" sx="100000" sy="100000" kx="0" ky="0" algn="bl" rotWithShape="0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289C8146-D8FD-41B7-BFA6-4A4B88513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286000"/>
            <a:ext cx="329184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522638B2-A7DC-4ECA-82F1-820AA3E09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2468880"/>
            <a:ext cx="50292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7D1ECD48-A58E-4CFB-9398-4276E5341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2468880"/>
            <a:ext cx="5029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AI</a:t>
            </a:r>
            <a:endParaRPr sz="90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B05C0880-1B2B-4D08-BCB9-F921A0BDE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2468880"/>
            <a:ext cx="2377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AGENTS.md</a:t>
            </a:r>
            <a:endParaRPr sz="130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CECF62D0-4332-4E7D-99FC-81449F57B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3017520"/>
            <a:ext cx="30175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AI 协作入口</a:t>
            </a:r>
            <a:endParaRPr sz="1000"/>
          </a:p>
        </p:txBody>
      </p:sp>
      <p:sp>
        <p:nvSpPr>
          <p:cNvPr id="32" name="Shape 16">
            <a:extLst xmlns:a="http://schemas.openxmlformats.org/drawingml/2006/main">
              <a:ext uri="{FF2B5EF4-FFF2-40B4-BE49-F238E27FC236}">
                <a16:creationId xmlns:a16="http://schemas.microsoft.com/office/drawing/2014/main" id="{779D0CCE-9EAE-42BD-ABB6-00CAC8620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3950208"/>
            <a:ext cx="6858000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effectLst xmlns:a="http://schemas.openxmlformats.org/drawingml/2006/main">
            <a:outerShdw blurRad="50800" dist="25400" dir="8100000" sx="100000" sy="100000" kx="0" ky="0" algn="bl" rotWithShape="0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Shape 17">
            <a:extLst xmlns:a="http://schemas.openxmlformats.org/drawingml/2006/main">
              <a:ext uri="{FF2B5EF4-FFF2-40B4-BE49-F238E27FC236}">
                <a16:creationId xmlns:a16="http://schemas.microsoft.com/office/drawing/2014/main" id="{0BD4B4E9-CFEB-4BBF-B348-4D51DBEF1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3950208"/>
            <a:ext cx="54864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4" name="Shape 18">
            <a:extLst xmlns:a="http://schemas.openxmlformats.org/drawingml/2006/main">
              <a:ext uri="{FF2B5EF4-FFF2-40B4-BE49-F238E27FC236}">
                <a16:creationId xmlns:a16="http://schemas.microsoft.com/office/drawing/2014/main" id="{CC7C3F04-B5E0-4ABB-9A39-66D41DD21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041648"/>
            <a:ext cx="50292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Text 19">
            <a:extLst xmlns:a="http://schemas.openxmlformats.org/drawingml/2006/main">
              <a:ext uri="{FF2B5EF4-FFF2-40B4-BE49-F238E27FC236}">
                <a16:creationId xmlns:a16="http://schemas.microsoft.com/office/drawing/2014/main" id="{43BF4C93-DE57-4A1C-8679-12113C833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041648"/>
            <a:ext cx="5029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Ops</a:t>
            </a:r>
            <a:endParaRPr sz="900"/>
          </a:p>
        </p:txBody>
      </p:sp>
      <p:sp>
        <p:nvSpPr>
          <p:cNvPr id="36" name="Text 20">
            <a:extLst xmlns:a="http://schemas.openxmlformats.org/drawingml/2006/main">
              <a:ext uri="{FF2B5EF4-FFF2-40B4-BE49-F238E27FC236}">
                <a16:creationId xmlns:a16="http://schemas.microsoft.com/office/drawing/2014/main" id="{110B028E-2348-4CCF-BE69-D13001CD8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480" y="4041648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assets/</a:t>
            </a:r>
            <a:endParaRPr sz="1300"/>
          </a:p>
        </p:txBody>
      </p:sp>
      <p:sp>
        <p:nvSpPr>
          <p:cNvPr id="37" name="Text 21">
            <a:extLst xmlns:a="http://schemas.openxmlformats.org/drawingml/2006/main">
              <a:ext uri="{FF2B5EF4-FFF2-40B4-BE49-F238E27FC236}">
                <a16:creationId xmlns:a16="http://schemas.microsoft.com/office/drawing/2014/main" id="{B6AE8416-FC05-4DBC-B8F2-876DBEC50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4041648"/>
            <a:ext cx="3566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运营资产：配置 / 接口 / 规范 / 手册</a:t>
            </a:r>
            <a:endParaRPr sz="1000"/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18C96612-D0D6-46D4-ACDA-411BF29F9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09160"/>
            <a:ext cx="9144000" cy="4343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65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B93BE56C-89E8-48F3-9A9F-40992584B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09160"/>
            <a:ext cx="8229600" cy="4343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SSOT 开发方法论  |  MIT License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214050020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488130BC-59CD-4EDC-B65E-84E4113AE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4592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65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CFC0D06-2B3B-42A9-B0C9-1E5C4538B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0040"/>
            <a:ext cx="16459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04</a:t>
            </a:r>
            <a:endParaRPr sz="28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85E19044-0BFF-4A78-92A9-93C6ACE0D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868680"/>
            <a:ext cx="1463040" cy="228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>
                <a:solidFill>
                  <a:srgbClr val="14B8A6"/>
                </a:solidFill>
                <a:latin typeface="Calibri"/>
                <a:ea typeface="Calibri"/>
                <a:cs typeface="Calibri"/>
              </a:rPr>
              <a:t>PM 产出</a:t>
            </a:r>
            <a:endParaRPr sz="13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EFA85AE0-3A99-4E7A-A0A3-487C1CEA1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0"/>
            <a:ext cx="749808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948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012300B4-881A-4ABC-BDCF-52EA5A622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365760"/>
            <a:ext cx="3291840" cy="3977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effectLst xmlns:a="http://schemas.openxmlformats.org/drawingml/2006/main">
            <a:outerShdw blurRad="50800" dist="25400" dir="8100000" sx="100000" sy="100000" kx="0" ky="0" algn="bl" rotWithShape="0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D3DC74D7-5840-48C2-873D-2C66FF11E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365760"/>
            <a:ext cx="329184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948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85E37203-B4DE-4AFB-BF93-A2C9AAD64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365760"/>
            <a:ext cx="32918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稳定层 docs/</a:t>
            </a:r>
            <a:endParaRPr sz="12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03BAE7CD-2BFE-45A7-82AA-196748224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3120" y="960120"/>
            <a:ext cx="2926080" cy="3200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product-overview.md</a:t>
            </a:r>
            <a:endParaRPr sz="1100"/>
          </a:p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产品概览 + 术语表</a:t>
            </a:r>
            <a:endParaRPr sz="1100"/>
          </a:p>
          <a:p xmlns:a="http://schemas.openxmlformats.org/drawingml/2006/main">
            <a:pPr marL="0" indent="0">
              <a:buNone/>
            </a:pPr>
            <a:endParaRPr sz="1100"/>
          </a:p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non-functional-reqs.md</a:t>
            </a:r>
            <a:endParaRPr sz="1100"/>
          </a:p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性能/SLA/安全/合规</a:t>
            </a:r>
            <a:endParaRPr sz="1100"/>
          </a:p>
          <a:p xmlns:a="http://schemas.openxmlformats.org/drawingml/2006/main">
            <a:pPr marL="0" indent="0">
              <a:buNone/>
            </a:pPr>
            <a:endParaRPr sz="1100"/>
          </a:p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visual-design.md</a:t>
            </a:r>
            <a:endParaRPr sz="1100"/>
          </a:p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设计规范 / 品牌资产</a:t>
            </a:r>
            <a:endParaRPr sz="110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5027063B-37BB-4C24-97A0-82C6E873A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65760"/>
            <a:ext cx="3291840" cy="3977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effectLst xmlns:a="http://schemas.openxmlformats.org/drawingml/2006/main">
            <a:outerShdw blurRad="50800" dist="25400" dir="8100000" sx="100000" sy="100000" kx="0" ky="0" algn="bl" rotWithShape="0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430E9B39-1AB2-4AAD-A696-37A2C005A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65760"/>
            <a:ext cx="329184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E5FED123-ADA6-44A3-8EAC-5FF99E41F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65760"/>
            <a:ext cx="32918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版本层 sprints/</a:t>
            </a:r>
            <a:endParaRPr sz="12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D3AEF310-4F9F-4576-84F3-65D1376C1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960120"/>
            <a:ext cx="2926080" cy="3200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sp-NNN-名称/（docs/ + specs/）</a:t>
            </a:r>
            <a:endParaRPr sz="1100"/>
          </a:p>
          <a:p xmlns:a="http://schemas.openxmlformats.org/drawingml/2006/main">
            <a:pPr marL="0" indent="0">
              <a:buNone/>
            </a:pPr>
            <a:endParaRPr sz="1100"/>
          </a:p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SPRINT-features.md</a:t>
            </a:r>
            <a:endParaRPr sz="1100"/>
          </a:p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functional-overview.md</a:t>
            </a:r>
            <a:endParaRPr sz="1100"/>
          </a:p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user-scenarios.md</a:t>
            </a:r>
            <a:endParaRPr sz="1100"/>
          </a:p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business-flows.md</a:t>
            </a:r>
            <a:endParaRPr sz="1100"/>
          </a:p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uml-pack.md</a:t>
            </a:r>
            <a:endParaRPr sz="1100"/>
          </a:p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prototypes/ (HTML)</a:t>
            </a:r>
            <a:endParaRPr sz="110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FEB5F42C-0E95-4340-9521-C7E2CE2B9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09160"/>
            <a:ext cx="9144000" cy="4343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65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BEAEF357-D8C6-4F56-B009-BA63E642B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09160"/>
            <a:ext cx="8229600" cy="4343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SSOT 开发方法论  |  MIT License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98191357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13B252D-8116-4EF7-8741-013267E7E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4592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65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B12046A-8572-417E-8B4D-74D7C2668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0040"/>
            <a:ext cx="16459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05</a:t>
            </a:r>
            <a:endParaRPr sz="28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2179AB8D-3B27-425C-9EFE-714AFE8EF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868680"/>
            <a:ext cx="1463040" cy="228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>
                <a:solidFill>
                  <a:srgbClr val="14B8A6"/>
                </a:solidFill>
                <a:latin typeface="Calibri"/>
                <a:ea typeface="Calibri"/>
                <a:cs typeface="Calibri"/>
              </a:rPr>
              <a:t>Dev &amp; 架构师</a:t>
            </a:r>
            <a:endParaRPr sz="13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67DF9FAF-D2E0-45AC-9416-F8456FE05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0"/>
            <a:ext cx="749808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948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B7B8C752-752C-486B-8FA5-CD0D23B75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365760"/>
            <a:ext cx="3291840" cy="3977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effectLst xmlns:a="http://schemas.openxmlformats.org/drawingml/2006/main">
            <a:outerShdw blurRad="50800" dist="25400" dir="8100000" sx="100000" sy="100000" kx="0" ky="0" algn="bl" rotWithShape="0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5B0C69EA-6606-4E38-8726-66C9D02B5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365760"/>
            <a:ext cx="54864" cy="3977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E3AC90BA-D876-4FAE-AA47-3182E935B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3120" y="457200"/>
            <a:ext cx="29260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59E0B"/>
                </a:solidFill>
                <a:latin typeface="Calibri"/>
                <a:ea typeface="Calibri"/>
                <a:cs typeface="Calibri"/>
              </a:rPr>
              <a:t>sprints/*/specs/ 四文件</a:t>
            </a:r>
            <a:endParaRPr sz="130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57BF912E-601F-49F8-9BF8-CCE69E6B4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1115568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948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136F2AA9-2A69-4944-898E-3B8AFA580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1720" y="1005840"/>
            <a:ext cx="2743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requirements.md</a:t>
            </a:r>
            <a:endParaRPr sz="11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B368CA9E-0D31-4238-9475-B4BC151CF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1720" y="1280160"/>
            <a:ext cx="2743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基线 + 进入 / 实现 / 退出状态</a:t>
            </a:r>
            <a:endParaRPr sz="9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7F2ABC19-EA9A-4A9F-88CE-77119F880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1892808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948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6A404026-FD79-4C3A-82E1-4BBE09F99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1720" y="1783080"/>
            <a:ext cx="2743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plan.md</a:t>
            </a:r>
            <a:endParaRPr sz="11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00E86C47-10A5-4B35-8320-5CEF2B75B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1720" y="2057400"/>
            <a:ext cx="2743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可复原步骤 + 文件 / 迁移清单</a:t>
            </a:r>
            <a:endParaRPr sz="90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08844047-D9AA-4E00-8D47-103276349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670048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948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49589405-0267-484D-9C90-5F22EAC45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1720" y="2560320"/>
            <a:ext cx="2743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tasks.md</a:t>
            </a:r>
            <a:endParaRPr sz="11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F7102554-CB31-4B2C-B48A-AA50FB428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1720" y="2834640"/>
            <a:ext cx="2743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有向依赖 + 状态跟踪</a:t>
            </a:r>
            <a:endParaRPr sz="90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F2431A83-A1B0-4B44-B44F-AC71B3BCD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447288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948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1D22AE8E-B046-48D3-B9CC-1BCE366DE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1720" y="3337560"/>
            <a:ext cx="2743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check.md</a:t>
            </a:r>
            <a:endParaRPr sz="11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15A17060-9402-473A-BEB1-732BEB350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1720" y="3611880"/>
            <a:ext cx="2743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阶段自检 + 人工验收</a:t>
            </a:r>
            <a:endParaRPr sz="900"/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DB728CC6-6A88-4CE0-BF22-2CC0F6D5A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65760"/>
            <a:ext cx="3291840" cy="3977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effectLst xmlns:a="http://schemas.openxmlformats.org/drawingml/2006/main">
            <a:outerShdw blurRad="50800" dist="25400" dir="8100000" sx="100000" sy="100000" kx="0" ky="0" algn="bl" rotWithShape="0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56168171-6D66-4411-BA3F-C7E9B2611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65760"/>
            <a:ext cx="54864" cy="3977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948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54240CD9-ECEB-47C3-A5C4-DDB928739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457200"/>
            <a:ext cx="29260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D9488"/>
                </a:solidFill>
                <a:latin typeface="Calibri"/>
                <a:ea typeface="Calibri"/>
                <a:cs typeface="Calibri"/>
              </a:rPr>
              <a:t>architecture/ 当前架构</a:t>
            </a:r>
            <a:endParaRPr sz="13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C6320DC6-6842-4A35-9973-3ECD55AEB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960120"/>
            <a:ext cx="2926080" cy="3200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根目录最多 3 份文档（无 README）：</a:t>
            </a:r>
            <a:endParaRPr sz="1000"/>
          </a:p>
          <a:p xmlns:a="http://schemas.openxmlformats.org/drawingml/2006/main">
            <a:pPr marL="0" indent="0">
              <a:buNone/>
            </a:pPr>
            <a:r>
              <a:t/>
            </a:r>
            <a:endParaRPr sz="1000"/>
          </a:p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architecture.md</a:t>
            </a:r>
            <a:endParaRPr sz="1000"/>
          </a:p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代码服务 / 模块 / 边界</a:t>
            </a:r>
            <a:endParaRPr sz="1000"/>
          </a:p>
          <a:p xmlns:a="http://schemas.openxmlformats.org/drawingml/2006/main">
            <a:pPr marL="0" indent="0">
              <a:buNone/>
            </a:pPr>
            <a:r>
              <a:t/>
            </a:r>
            <a:endParaRPr sz="1000"/>
          </a:p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data-model.md</a:t>
            </a:r>
            <a:endParaRPr sz="1000"/>
          </a:p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实体 / 关系 / 数据归属</a:t>
            </a:r>
            <a:endParaRPr sz="1000"/>
          </a:p>
          <a:p xmlns:a="http://schemas.openxmlformats.org/drawingml/2006/main">
            <a:pPr marL="0" indent="0">
              <a:buNone/>
            </a:pPr>
            <a:r>
              <a:t/>
            </a:r>
            <a:endParaRPr sz="1000"/>
          </a:p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runtime.md</a:t>
            </a:r>
            <a:endParaRPr sz="1000"/>
          </a:p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中间件 / 外部服务 / 部署形态</a:t>
            </a:r>
            <a:endParaRPr sz="1000"/>
          </a:p>
          <a:p xmlns:a="http://schemas.openxmlformats.org/drawingml/2006/main">
            <a:pPr marL="0" indent="0">
              <a:buNone/>
            </a:pPr>
            <a:r>
              <a:t/>
            </a:r>
            <a:endParaRPr sz="1000"/>
          </a:p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architecture/adrs/</a:t>
            </a:r>
            <a:endParaRPr sz="1000"/>
          </a:p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低频、不可变的单文件 ADR 历史</a:t>
            </a:r>
            <a:endParaRPr sz="1000"/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C6E8713C-7C09-4C2C-9194-686DB10DD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09160"/>
            <a:ext cx="9144000" cy="4343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65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B074819A-C06F-4F1C-BA8C-82FBAB77F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09160"/>
            <a:ext cx="8229600" cy="4343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SSOT 开发方法论  |  MIT License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79977786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A365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925B5854-BB49-4563-B597-94FE8469C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09160"/>
            <a:ext cx="9144000" cy="4343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65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A3A24762-5DD9-40C6-9626-F5536548F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09160"/>
            <a:ext cx="8229600" cy="4343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SSOT 开发方法论  |  MIT License</a:t>
            </a:r>
            <a:endParaRPr sz="9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E7C1B134-5544-41C1-A2B6-2211544A2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80467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五步开发流程</a:t>
            </a:r>
            <a:endParaRPr sz="26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A18F5B0C-EE4F-4A5D-82A9-8A8C65A03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97280"/>
            <a:ext cx="8229600" cy="3291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5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3DD7000C-30A6-4534-A61A-52C34B98A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463040"/>
            <a:ext cx="640080" cy="6400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948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E0E2E797-2ED6-481E-ABF2-CD2A9F4F0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463040"/>
            <a:ext cx="640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18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3F262645-9E47-4EFE-831D-731575462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240280"/>
            <a:ext cx="15544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PM 设计</a:t>
            </a:r>
            <a:endParaRPr sz="12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869E7E8C-DCB3-4AD8-A7F0-747D5EAC4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560320"/>
            <a:ext cx="15544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docs/ + sprints/</a:t>
            </a:r>
            <a:endParaRPr sz="9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672F2F64-95D2-4A2B-BB6A-D56561C5C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55448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→</a:t>
            </a:r>
            <a:endParaRPr sz="200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737ABD02-848F-4D43-BB0C-E50985BFC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1463040"/>
            <a:ext cx="640080" cy="6400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B8A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2B5DD5D9-FAD7-4FB7-8C97-9C699DA87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1463040"/>
            <a:ext cx="640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18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E262B7AC-9770-42C4-A02D-9A7D0B0C8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240280"/>
            <a:ext cx="15544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Dev+AI 规格</a:t>
            </a:r>
            <a:endParaRPr sz="12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3698241A-2E35-4DBD-842B-63615498B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560320"/>
            <a:ext cx="15544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当前架构 + 必要 ADR + specs/</a:t>
            </a:r>
            <a:endParaRPr sz="9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A8659D98-B47A-4DC7-BE93-B29F62206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155448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→</a:t>
            </a:r>
            <a:endParaRPr sz="200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1A45A23D-4B23-4A37-BF0E-112D5A6C9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7640" y="1463040"/>
            <a:ext cx="640080" cy="6400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C1341BCA-CFB1-49A7-A581-0D6E95407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7640" y="1463040"/>
            <a:ext cx="640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18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E56EFF0C-BEAD-4124-85B3-4ACF28595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2240280"/>
            <a:ext cx="15544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评审</a:t>
            </a:r>
            <a:endParaRPr sz="12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81997754-3587-4252-B433-EA2D25D51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2560320"/>
            <a:ext cx="15544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通过 or 打回</a:t>
            </a:r>
            <a:endParaRPr sz="9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C9D14312-0888-49C8-A321-3BC4EDE3B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155448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→</a:t>
            </a:r>
            <a:endParaRPr sz="2000"/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01BF3163-ECBE-4545-92AC-6EF815771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0680" y="1463040"/>
            <a:ext cx="640080" cy="6400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948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5304803F-34FB-4DFF-A845-FAA19DBE4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0680" y="1463040"/>
            <a:ext cx="640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  <a:endParaRPr sz="18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850B9A61-78C3-4642-BE9F-627212E7A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0" y="2240280"/>
            <a:ext cx="15544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AI 编码</a:t>
            </a:r>
            <a:endParaRPr sz="12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BC9B7B68-2751-462D-B11B-AC8361169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0" y="2560320"/>
            <a:ext cx="15544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spec → 代码</a:t>
            </a:r>
            <a:endParaRPr sz="90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BDA3852A-BDA6-428B-B80F-46FB9D9E9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55448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→</a:t>
            </a:r>
            <a:endParaRPr sz="2000"/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8AF21746-EC76-4AC0-810A-D7AA71990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1463040"/>
            <a:ext cx="640080" cy="6400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B8A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153ED147-07C4-4E7C-B8B8-4B9FD14FA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1463040"/>
            <a:ext cx="640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  <a:endParaRPr sz="180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49E0F191-60DA-42B6-B7E1-4019E3731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2240280"/>
            <a:ext cx="15544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Dev 收尾</a:t>
            </a:r>
            <a:endParaRPr sz="120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2453B68F-2669-402F-ACC9-6AE0BE047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2560320"/>
            <a:ext cx="15544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边界 + 集成</a:t>
            </a:r>
            <a:endParaRPr sz="900"/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57B32617-58B0-4C5A-A44E-CD134CEC3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291840"/>
            <a:ext cx="804672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5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E8CC416D-AB74-483B-8E27-77AE513D6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291840"/>
            <a:ext cx="768096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Step 1: PM 写业务文档</a:t>
            </a:r>
            <a:endParaRPr sz="1000"/>
          </a:p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Step 2: Dev 定阶段边界 → AI 写规格与必要架构决策</a:t>
            </a:r>
            <a:endParaRPr sz="1000"/>
          </a:p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Step 3: PM+Dev 评审 → 通过后 AI 才能编码</a:t>
            </a:r>
            <a:endParaRPr sz="1000"/>
          </a:p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Step 4: AI 按依赖顺序实现 → 自检 → 等待确认</a:t>
            </a:r>
            <a:endParaRPr sz="1000"/>
          </a:p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Step 5: Dev 收口临时边界 + QA 验收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13388907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CC6ED698-6C11-452A-AC79-737A39AE2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4592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65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D993937-4351-425D-8488-643DB31CD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0040"/>
            <a:ext cx="16459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06</a:t>
            </a:r>
            <a:endParaRPr sz="28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567E979-0242-46A5-BD7C-1E75CEA1F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868680"/>
            <a:ext cx="1463040" cy="228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>
                <a:solidFill>
                  <a:srgbClr val="14B8A6"/>
                </a:solidFill>
                <a:latin typeface="Calibri"/>
                <a:ea typeface="Calibri"/>
                <a:cs typeface="Calibri"/>
              </a:rPr>
              <a:t>Step 1</a:t>
            </a:r>
            <a:endParaRPr sz="1300"/>
          </a:p>
          <a:p xmlns:a="http://schemas.openxmlformats.org/drawingml/2006/main">
            <a:pPr marL="0" indent="0" algn="ctr">
              <a:buNone/>
            </a:pPr>
            <a:r>
              <a:rPr sz="1300">
                <a:solidFill>
                  <a:srgbClr val="14B8A6"/>
                </a:solidFill>
                <a:latin typeface="Calibri"/>
                <a:ea typeface="Calibri"/>
                <a:cs typeface="Calibri"/>
              </a:rPr>
              <a:t>PM 产品设计</a:t>
            </a:r>
            <a:endParaRPr sz="13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D9CD417A-A5A3-40EF-8DD1-B216A5CD5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0"/>
            <a:ext cx="749808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948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DFEE6FED-D3CA-4867-B89E-8D9626587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457200"/>
            <a:ext cx="67665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PM 独作，AI 辅助润色、画图、生成原型</a:t>
            </a:r>
            <a:endParaRPr sz="11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C2DA0ABA-B622-4D97-8EE4-52D00B719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914400"/>
            <a:ext cx="3291840" cy="2194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effectLst xmlns:a="http://schemas.openxmlformats.org/drawingml/2006/main">
            <a:outerShdw blurRad="50800" dist="25400" dir="8100000" sx="100000" sy="100000" kx="0" ky="0" algn="bl" rotWithShape="0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51E403E2-9008-47FD-88BD-D70B4EA00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914400"/>
            <a:ext cx="329184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144BE99-0B50-4216-99A7-64B6C9C3F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4832" y="1024128"/>
            <a:ext cx="3017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59669"/>
                </a:solidFill>
                <a:latin typeface="Calibri"/>
                <a:ea typeface="Calibri"/>
                <a:cs typeface="Calibri"/>
              </a:rPr>
              <a:t>✅ PM 做</a:t>
            </a:r>
            <a:endParaRPr sz="12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AA4AF873-C3FC-4B6A-8CDC-D432ABF07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4832" y="1371600"/>
            <a:ext cx="3017520" cy="1554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✓  写产品文档 docs/</a:t>
            </a:r>
            <a:endParaRPr sz="1000"/>
          </a:p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✓  画 Mermaid 流程图</a:t>
            </a:r>
            <a:endParaRPr sz="1000"/>
          </a:p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✓  做 HTML 原型</a:t>
            </a:r>
            <a:endParaRPr sz="1000"/>
          </a:p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✓  定义业务验收条件</a:t>
            </a:r>
            <a:endParaRPr sz="1000"/>
          </a:p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✓  拆冲刺 sprints/</a:t>
            </a:r>
            <a:endParaRPr sz="100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D4B3E296-EE8A-4488-8464-EB4D72A52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914400"/>
            <a:ext cx="3291840" cy="2194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2F2"/>
          </a:solidFill>
          <a:effectLst xmlns:a="http://schemas.openxmlformats.org/drawingml/2006/main">
            <a:outerShdw blurRad="50800" dist="25400" dir="8100000" sx="100000" sy="100000" kx="0" ky="0" algn="bl" rotWithShape="0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7D7EA913-674F-4BAC-BB9A-CAA04C631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914400"/>
            <a:ext cx="329184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476BE339-B84A-4B72-B644-FA8438D4E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0992" y="1024128"/>
            <a:ext cx="3017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DC2626"/>
                </a:solidFill>
                <a:latin typeface="Calibri"/>
                <a:ea typeface="Calibri"/>
                <a:cs typeface="Calibri"/>
              </a:rPr>
              <a:t>❌ PM 不做</a:t>
            </a:r>
            <a:endParaRPr sz="12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6D68BA93-E634-4141-95E1-9E5B69C6A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0992" y="1371600"/>
            <a:ext cx="3017520" cy="1554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✗  不写技术方案</a:t>
            </a:r>
            <a:endParaRPr sz="1000"/>
          </a:p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✗  不写 DB schema</a:t>
            </a:r>
            <a:endParaRPr sz="1000"/>
          </a:p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✗  不写 API 设计</a:t>
            </a:r>
            <a:endParaRPr sz="1000"/>
          </a:p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✗  不写代码</a:t>
            </a:r>
            <a:endParaRPr sz="100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6B7C3D05-A66D-428B-BDEC-DEC48F2DB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3337560"/>
            <a:ext cx="6766560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effectLst xmlns:a="http://schemas.openxmlformats.org/drawingml/2006/main">
            <a:outerShdw blurRad="50800" dist="25400" dir="8100000" sx="100000" sy="100000" kx="0" ky="0" algn="bl" rotWithShape="0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793FABF0-663C-48B2-B384-8669DC7A7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4832" y="3429000"/>
            <a:ext cx="6492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59E0B"/>
                </a:solidFill>
                <a:latin typeface="Calibri"/>
                <a:ea typeface="Calibri"/>
                <a:cs typeface="Calibri"/>
              </a:rPr>
              <a:t>进入 Step 2 的条件</a:t>
            </a:r>
            <a:endParaRPr sz="11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D8B0639B-5A41-49A9-9398-AFA616EA4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4832" y="3749040"/>
            <a:ext cx="6492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product-overview + user-scenarios + sprints 就位 → TL 评审技术可行性通过</a:t>
            </a:r>
            <a:endParaRPr sz="100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E87F9D10-27CB-431E-9BD2-E2244DC36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09160"/>
            <a:ext cx="9144000" cy="4343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65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AE7B3FC7-4EB7-4C9E-B194-A05B239F0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09160"/>
            <a:ext cx="8229600" cy="4343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SSOT 开发方法论  |  MIT License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60725236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D7E467D-DA3A-4AF3-AFFA-3D141774A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4592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65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5489BFA-1F5D-4116-8846-076CAB8D6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0040"/>
            <a:ext cx="16459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07</a:t>
            </a:r>
            <a:endParaRPr sz="28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A3A6F420-0E8A-47E8-910C-290926F3F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868680"/>
            <a:ext cx="1463040" cy="228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>
                <a:solidFill>
                  <a:srgbClr val="14B8A6"/>
                </a:solidFill>
                <a:latin typeface="Calibri"/>
                <a:ea typeface="Calibri"/>
                <a:cs typeface="Calibri"/>
              </a:rPr>
              <a:t>Step 2</a:t>
            </a:r>
            <a:endParaRPr sz="1300"/>
          </a:p>
          <a:p xmlns:a="http://schemas.openxmlformats.org/drawingml/2006/main">
            <a:pPr marL="0" indent="0" algn="ctr">
              <a:buNone/>
            </a:pPr>
            <a:r>
              <a:rPr sz="1300">
                <a:solidFill>
                  <a:srgbClr val="14B8A6"/>
                </a:solidFill>
                <a:latin typeface="Calibri"/>
                <a:ea typeface="Calibri"/>
                <a:cs typeface="Calibri"/>
              </a:rPr>
              <a:t>Dev+AI 架构</a:t>
            </a:r>
            <a:endParaRPr sz="13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7B3DAEB3-BDC7-4B5E-B416-C0BBC07AD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0"/>
            <a:ext cx="749808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948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9FD6EAAD-DE80-448C-AA19-4040F6067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457200"/>
            <a:ext cx="67665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Dev 给方向（10 分钟），AI 写完整方案</a:t>
            </a:r>
            <a:endParaRPr sz="11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6B2589FA-8F5E-4F3E-A015-F17281AAD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914400"/>
            <a:ext cx="3291840" cy="3291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effectLst xmlns:a="http://schemas.openxmlformats.org/drawingml/2006/main">
            <a:outerShdw blurRad="50800" dist="25400" dir="8100000" sx="100000" sy="100000" kx="0" ky="0" algn="bl" rotWithShape="0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EFBFC01B-EC08-4BD3-BAB8-668F75C89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914400"/>
            <a:ext cx="329184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E5C4B9BA-C2D2-45F4-B9F4-537FE91D3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4832" y="1051560"/>
            <a:ext cx="30175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59E0B"/>
                </a:solidFill>
                <a:latin typeface="Calibri"/>
                <a:ea typeface="Calibri"/>
                <a:cs typeface="Calibri"/>
              </a:rPr>
              <a:t>Dev 4 个决策</a:t>
            </a:r>
            <a:endParaRPr sz="12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743365D2-26D9-4959-8E81-806D952E0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4832" y="1463040"/>
            <a:ext cx="3017520" cy="2560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① spec 边界与依赖方向？</a:t>
            </a:r>
            <a:endParaRPr sz="1000"/>
          </a:p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② 是否改变架构不变量？</a:t>
            </a:r>
            <a:endParaRPr sz="1000"/>
          </a:p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③ 进入 / 实现程度 / 退出状态？</a:t>
            </a:r>
            <a:endParaRPr sz="1000"/>
          </a:p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④ Mock / 占位由哪个 spec 收口？</a:t>
            </a:r>
            <a:endParaRPr sz="100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51E4171D-C841-4F17-8627-F26E484E5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914400"/>
            <a:ext cx="3291840" cy="3291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effectLst xmlns:a="http://schemas.openxmlformats.org/drawingml/2006/main">
            <a:outerShdw blurRad="50800" dist="25400" dir="8100000" sx="100000" sy="100000" kx="0" ky="0" algn="bl" rotWithShape="0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75F5B1F4-3E3D-46D1-95BC-968CD102C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914400"/>
            <a:ext cx="329184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948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346978D2-7A26-479E-AD32-DDCE39A9D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0992" y="1051560"/>
            <a:ext cx="30175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D9488"/>
                </a:solidFill>
                <a:latin typeface="Calibri"/>
                <a:ea typeface="Calibri"/>
                <a:cs typeface="Calibri"/>
              </a:rPr>
              <a:t>AI 产出</a:t>
            </a:r>
            <a:endParaRPr sz="12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46D58B8B-2B25-48A5-AA53-1B6FD80C0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0992" y="1463040"/>
            <a:ext cx="3017520" cy="2560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→ architecture/ 当前架构（最多 3 文件）</a:t>
            </a:r>
            <a:endParaRPr sz="1000"/>
          </a:p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→ 必要时新增单文件 ADR</a:t>
            </a:r>
            <a:endParaRPr sz="1000"/>
          </a:p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→ specs/ 四文件</a:t>
            </a:r>
            <a:endParaRPr sz="1000"/>
          </a:p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→ requirements：阶段边界</a:t>
            </a:r>
            <a:endParaRPr sz="1000"/>
          </a:p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→ plan / tasks / check：实现与验收</a:t>
            </a:r>
            <a:endParaRPr sz="100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768D65C6-F7DA-4082-8037-2E039BCC9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09160"/>
            <a:ext cx="9144000" cy="4343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65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424CF889-04D1-42B6-A308-3D557C4A1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09160"/>
            <a:ext cx="8229600" cy="4343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SSOT 开发方法论  |  MIT License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48487346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05BCBC88-4063-4DD4-9194-092BC150D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4592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65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9398600-418F-4866-A6E5-E2611748D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0040"/>
            <a:ext cx="16459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08</a:t>
            </a:r>
            <a:endParaRPr sz="28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26649B32-A1ED-4714-8A03-5A0F84B45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868680"/>
            <a:ext cx="1463040" cy="228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>
                <a:solidFill>
                  <a:srgbClr val="14B8A6"/>
                </a:solidFill>
                <a:latin typeface="Calibri"/>
                <a:ea typeface="Calibri"/>
                <a:cs typeface="Calibri"/>
              </a:rPr>
              <a:t>Step 3</a:t>
            </a:r>
            <a:endParaRPr sz="1300"/>
          </a:p>
          <a:p xmlns:a="http://schemas.openxmlformats.org/drawingml/2006/main">
            <a:pPr marL="0" indent="0" algn="ctr">
              <a:buNone/>
            </a:pPr>
            <a:r>
              <a:rPr sz="1300">
                <a:solidFill>
                  <a:srgbClr val="14B8A6"/>
                </a:solidFill>
                <a:latin typeface="Calibri"/>
                <a:ea typeface="Calibri"/>
                <a:cs typeface="Calibri"/>
              </a:rPr>
              <a:t>方案评审</a:t>
            </a:r>
            <a:endParaRPr sz="13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2C09C795-4685-498D-920C-32655F679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0"/>
            <a:ext cx="749808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948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E28DD6EA-74F6-4116-B5FF-147BB494F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457200"/>
            <a:ext cx="67665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59E0B"/>
                </a:solidFill>
                <a:latin typeface="Calibri"/>
                <a:ea typeface="Calibri"/>
                <a:cs typeface="Calibri"/>
              </a:rPr>
              <a:t>唯一必须真人碰面的节点 — spec 通过评审前 AI 不能编码</a:t>
            </a:r>
            <a:endParaRPr sz="11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7690734E-A4FC-4383-A8A0-90B39DCBE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914400"/>
            <a:ext cx="3291840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effectLst xmlns:a="http://schemas.openxmlformats.org/drawingml/2006/main">
            <a:outerShdw blurRad="50800" dist="25400" dir="8100000" sx="100000" sy="100000" kx="0" ky="0" algn="bl" rotWithShape="0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3198CC10-AAD6-4261-A2AC-A8B31AECC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914400"/>
            <a:ext cx="329184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22763C1D-F088-4B61-916D-075E42179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4832" y="1024128"/>
            <a:ext cx="3017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59E0B"/>
                </a:solidFill>
                <a:latin typeface="Calibri"/>
                <a:ea typeface="Calibri"/>
                <a:cs typeface="Calibri"/>
              </a:rPr>
              <a:t>PM 审：业务匹配</a:t>
            </a:r>
            <a:endParaRPr sz="12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5D02AC1C-EBB1-427E-92E0-CB870FE67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4832" y="1371600"/>
            <a:ext cx="3017520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这个 spec 能解决 sprint 里的业务需求吗？</a:t>
            </a:r>
            <a:endParaRPr sz="1000"/>
          </a:p>
          <a:p xmlns:a="http://schemas.openxmlformats.org/drawingml/2006/main">
            <a:pPr marL="0" indent="0">
              <a:buNone/>
            </a:pPr>
            <a:endParaRPr sz="1000"/>
          </a:p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PM 看不懂 → spec 不合格</a:t>
            </a:r>
            <a:endParaRPr sz="100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29F4426D-AA03-4A40-A1B1-A700BBE36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914400"/>
            <a:ext cx="3291840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effectLst xmlns:a="http://schemas.openxmlformats.org/drawingml/2006/main">
            <a:outerShdw blurRad="50800" dist="25400" dir="8100000" sx="100000" sy="100000" kx="0" ky="0" algn="bl" rotWithShape="0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A3A43A49-5C75-4A75-8686-4C8265A81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914400"/>
            <a:ext cx="329184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948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DDC7E155-9139-4756-949E-733060EA0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0992" y="1024128"/>
            <a:ext cx="3017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D9488"/>
                </a:solidFill>
                <a:latin typeface="Calibri"/>
                <a:ea typeface="Calibri"/>
                <a:cs typeface="Calibri"/>
              </a:rPr>
              <a:t>TL 审：架构合理</a:t>
            </a:r>
            <a:endParaRPr sz="12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D58B852F-56FC-4B50-B843-EB228DE97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0992" y="1371600"/>
            <a:ext cx="3017520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方案可行？边界清晰？</a:t>
            </a:r>
            <a:endParaRPr sz="1000"/>
          </a:p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跨模块依赖处理正确？</a:t>
            </a:r>
            <a:endParaRPr sz="100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3C6D8159-1042-4FDD-A89F-8D288B020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3017520"/>
            <a:ext cx="676656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effectLst xmlns:a="http://schemas.openxmlformats.org/drawingml/2006/main">
            <a:outerShdw blurRad="50800" dist="25400" dir="8100000" sx="100000" sy="100000" kx="0" ky="0" algn="bl" rotWithShape="0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9917818B-441A-4115-ABD0-344B31C58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4832" y="3108960"/>
            <a:ext cx="6492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评审结论</a:t>
            </a:r>
            <a:endParaRPr sz="11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8B5F246D-C06F-4897-824A-C7EA4FA11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4832" y="3474720"/>
            <a:ext cx="64922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059669"/>
                </a:solidFill>
                <a:latin typeface="Calibri"/>
                <a:ea typeface="Calibri"/>
                <a:cs typeface="Calibri"/>
              </a:rPr>
              <a:t>✅ 通过 → 进入 Step 4 AI 编码</a:t>
            </a:r>
            <a:endParaRPr sz="1000"/>
          </a:p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F59E0B"/>
                </a:solidFill>
                <a:latin typeface="Calibri"/>
                <a:ea typeface="Calibri"/>
                <a:cs typeface="Calibri"/>
              </a:rPr>
              <a:t>🔁 需修改 → 打回 Step 2，Dev+AI 改 spec 后重审</a:t>
            </a:r>
            <a:endParaRPr sz="100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373FE6E0-1884-4927-9373-A72DE591F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09160"/>
            <a:ext cx="9144000" cy="4343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65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CF5BBF1D-ABBA-4107-91E1-0851A27DF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09160"/>
            <a:ext cx="8229600" cy="4343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SSOT 开发方法论  |  MIT License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2612467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C474A648-19A6-474F-A3F8-A34732568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4592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65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F287A184-4F3E-413B-A08B-71064BA88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0040"/>
            <a:ext cx="16459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09</a:t>
            </a:r>
            <a:endParaRPr sz="28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707A5E2-D139-4407-B241-DF9ED05A0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868680"/>
            <a:ext cx="1463040" cy="228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>
                <a:solidFill>
                  <a:srgbClr val="14B8A6"/>
                </a:solidFill>
                <a:latin typeface="Calibri"/>
                <a:ea typeface="Calibri"/>
                <a:cs typeface="Calibri"/>
              </a:rPr>
              <a:t>Step 4</a:t>
            </a:r>
            <a:endParaRPr sz="1300"/>
          </a:p>
          <a:p xmlns:a="http://schemas.openxmlformats.org/drawingml/2006/main">
            <a:pPr marL="0" indent="0" algn="ctr">
              <a:buNone/>
            </a:pPr>
            <a:r>
              <a:rPr sz="1300">
                <a:solidFill>
                  <a:srgbClr val="14B8A6"/>
                </a:solidFill>
                <a:latin typeface="Calibri"/>
                <a:ea typeface="Calibri"/>
                <a:cs typeface="Calibri"/>
              </a:rPr>
              <a:t>AI 编码</a:t>
            </a:r>
            <a:endParaRPr sz="13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7075C38C-B96C-4586-8E73-FEB16ECA8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0"/>
            <a:ext cx="749808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948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43B7C38C-5EAE-4318-865E-4D7AF91A5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457200"/>
            <a:ext cx="67665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输入：已通过评审的 requirements.md + plan.md</a:t>
            </a:r>
            <a:endParaRPr sz="11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6AE24481-4667-4D52-8719-9AA5BEE69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1005840"/>
            <a:ext cx="1188720" cy="1463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effectLst xmlns:a="http://schemas.openxmlformats.org/drawingml/2006/main">
            <a:outerShdw blurRad="50800" dist="25400" dir="8100000" sx="100000" sy="100000" kx="0" ky="0" algn="bl" rotWithShape="0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CE83BDE2-4266-4566-B9CD-FAD2FE1AF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1005840"/>
            <a:ext cx="118872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948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92C461DF-DD35-4014-A6A5-42730BF8A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1060704"/>
            <a:ext cx="11887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0D9488"/>
                </a:solidFill>
                <a:latin typeface="Calibri"/>
                <a:ea typeface="Calibri"/>
                <a:cs typeface="Calibri"/>
              </a:rPr>
              <a:t>1</a:t>
            </a:r>
            <a:endParaRPr sz="14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4B9BEC4B-8256-4523-AACB-8B1B8D22A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960" y="1325880"/>
            <a:ext cx="109728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读 requirements</a:t>
            </a:r>
            <a:endParaRPr sz="900"/>
          </a:p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理解方案</a:t>
            </a:r>
            <a:endParaRPr sz="9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C4BFFC10-EA1E-4168-9A4B-6BD4C4419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240" y="1371600"/>
            <a:ext cx="2743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→</a:t>
            </a:r>
            <a:endParaRPr sz="14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E01D9325-7339-4F92-9415-29DA857A8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1005840"/>
            <a:ext cx="1188720" cy="1463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effectLst xmlns:a="http://schemas.openxmlformats.org/drawingml/2006/main">
            <a:outerShdw blurRad="50800" dist="25400" dir="8100000" sx="100000" sy="100000" kx="0" ky="0" algn="bl" rotWithShape="0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7E74EE66-C280-48FB-B461-9B67562D8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1005840"/>
            <a:ext cx="118872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948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47C7056A-D724-46D4-9DF8-D7EE5FE18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1060704"/>
            <a:ext cx="11887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0D9488"/>
                </a:solidFill>
                <a:latin typeface="Calibri"/>
                <a:ea typeface="Calibri"/>
                <a:cs typeface="Calibri"/>
              </a:rPr>
              <a:t>2</a:t>
            </a:r>
            <a:endParaRPr sz="14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D8B3C01C-9BF7-43FD-A964-FED785DF5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7560" y="1325880"/>
            <a:ext cx="109728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按 plan.md</a:t>
            </a:r>
            <a:endParaRPr sz="900"/>
          </a:p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逐文件实现</a:t>
            </a:r>
            <a:endParaRPr sz="9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5BAD7E03-EAD7-4AC5-A299-E535D3953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1371600"/>
            <a:ext cx="2743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→</a:t>
            </a:r>
            <a:endParaRPr sz="140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F5C1118B-3CC1-4EAB-A65A-6CA04CF87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1005840"/>
            <a:ext cx="1188720" cy="1463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effectLst xmlns:a="http://schemas.openxmlformats.org/drawingml/2006/main">
            <a:outerShdw blurRad="50800" dist="25400" dir="8100000" sx="100000" sy="100000" kx="0" ky="0" algn="bl" rotWithShape="0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2DA8F81B-9326-4C47-A582-FAA6B473B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1005840"/>
            <a:ext cx="118872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948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567D5087-4F4E-42D6-A1A5-858D54596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1060704"/>
            <a:ext cx="11887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0D9488"/>
                </a:solidFill>
                <a:latin typeface="Calibri"/>
                <a:ea typeface="Calibri"/>
                <a:cs typeface="Calibri"/>
              </a:rPr>
              <a:t>3</a:t>
            </a:r>
            <a:endParaRPr sz="14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B4F27D92-35A9-4A46-A562-E591BDEE4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1325880"/>
            <a:ext cx="109728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更新</a:t>
            </a:r>
            <a:endParaRPr sz="900"/>
          </a:p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tasks.md 状态</a:t>
            </a:r>
            <a:endParaRPr sz="9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731443C3-CF96-46F1-A656-818A8669B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6440" y="1371600"/>
            <a:ext cx="2743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→</a:t>
            </a:r>
            <a:endParaRPr sz="1400"/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4E743DAB-271B-41CD-9C84-99E00817C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1005840"/>
            <a:ext cx="1188720" cy="1463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effectLst xmlns:a="http://schemas.openxmlformats.org/drawingml/2006/main">
            <a:outerShdw blurRad="50800" dist="25400" dir="8100000" sx="100000" sy="100000" kx="0" ky="0" algn="bl" rotWithShape="0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A67F5B63-B943-4C14-9918-A9D09972A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1005840"/>
            <a:ext cx="118872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948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EE1DF543-F16B-483A-9B51-0CA09331C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1060704"/>
            <a:ext cx="11887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0D9488"/>
                </a:solidFill>
                <a:latin typeface="Calibri"/>
                <a:ea typeface="Calibri"/>
                <a:cs typeface="Calibri"/>
              </a:rPr>
              <a:t>4</a:t>
            </a:r>
            <a:endParaRPr sz="140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F09A64B3-1E62-46AE-A4E7-6273DBAB1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1325880"/>
            <a:ext cx="109728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自检: typecheck</a:t>
            </a:r>
            <a:endParaRPr sz="900"/>
          </a:p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+ build + curl</a:t>
            </a:r>
            <a:endParaRPr sz="90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57046885-CEDC-4751-9F8B-F1C13DB07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1371600"/>
            <a:ext cx="2743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→</a:t>
            </a:r>
            <a:endParaRPr sz="1400"/>
          </a:p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34CF0E63-CACC-4A88-835C-9D063CD1B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1005840"/>
            <a:ext cx="1188720" cy="1463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effectLst xmlns:a="http://schemas.openxmlformats.org/drawingml/2006/main">
            <a:outerShdw blurRad="50800" dist="25400" dir="8100000" sx="100000" sy="100000" kx="0" ky="0" algn="bl" rotWithShape="0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7894E5EF-9BB9-47D9-989C-B3DE1F191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1005840"/>
            <a:ext cx="118872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948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E99D9580-7CD3-4E21-8BDA-CCA5D9A32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1060704"/>
            <a:ext cx="11887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0D9488"/>
                </a:solidFill>
                <a:latin typeface="Calibri"/>
                <a:ea typeface="Calibri"/>
                <a:cs typeface="Calibri"/>
              </a:rPr>
              <a:t>5</a:t>
            </a:r>
            <a:endParaRPr sz="1400"/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2B1DD665-8FBC-468A-96B6-7D4B95391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1325880"/>
            <a:ext cx="109728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展示改动</a:t>
            </a:r>
            <a:endParaRPr sz="900"/>
          </a:p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等确认→提交</a:t>
            </a:r>
            <a:endParaRPr sz="900"/>
          </a:p>
        </p:txBody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853BD929-150C-469C-A336-3B3B1D443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2743200"/>
            <a:ext cx="6766560" cy="1554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2F2"/>
          </a:solidFill>
          <a:effectLst xmlns:a="http://schemas.openxmlformats.org/drawingml/2006/main">
            <a:outerShdw blurRad="50800" dist="25400" dir="8100000" sx="100000" sy="100000" kx="0" ky="0" algn="bl" rotWithShape="0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4A5B8D00-DC30-49AA-9444-1A5C689B7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2743200"/>
            <a:ext cx="676656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C92C0CBD-3BE3-439A-B662-D45CCE419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4832" y="2852928"/>
            <a:ext cx="6492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DC2626"/>
                </a:solidFill>
                <a:latin typeface="Calibri"/>
                <a:ea typeface="Calibri"/>
                <a:cs typeface="Calibri"/>
              </a:rPr>
              <a:t>⛔ 禁止</a:t>
            </a:r>
            <a:endParaRPr sz="1100"/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E72F9E5C-BB89-4B93-81C8-99D8BA676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4832" y="3200400"/>
            <a:ext cx="64922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❌ 不读 spec 直接写代码</a:t>
            </a:r>
            <a:endParaRPr sz="1000"/>
          </a:p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❌ 边写边改方案（改方案必须回 Step 2/3）</a:t>
            </a:r>
            <a:endParaRPr sz="1000"/>
          </a:p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❌ 自动 git commit/push（展示改动等确认）</a:t>
            </a:r>
            <a:endParaRPr sz="1000"/>
          </a:p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❌ 每次任务全量重读 docs/（按 P0/P1/P2 按需读取）</a:t>
            </a:r>
            <a:endParaRPr sz="1000"/>
          </a:p>
        </p:txBody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984413A5-B0B7-47E0-BAD1-4ECE5B0CC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09160"/>
            <a:ext cx="9144000" cy="4343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65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D64DAB28-92FE-4B99-9113-96467390A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09160"/>
            <a:ext cx="8229600" cy="4343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SSOT 开发方法论  |  MIT License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20243372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A01C9A09-F34C-4825-91E8-0D4791E08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4592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65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352A83B-64BD-41BF-949F-04E18D56F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0040"/>
            <a:ext cx="16459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10</a:t>
            </a:r>
            <a:endParaRPr sz="28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F4AD514D-97E6-4BB6-ABD1-822BCF692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868680"/>
            <a:ext cx="1463040" cy="228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>
                <a:solidFill>
                  <a:srgbClr val="14B8A6"/>
                </a:solidFill>
                <a:latin typeface="Calibri"/>
                <a:ea typeface="Calibri"/>
                <a:cs typeface="Calibri"/>
              </a:rPr>
              <a:t>Step 5</a:t>
            </a:r>
            <a:endParaRPr sz="1300"/>
          </a:p>
          <a:p xmlns:a="http://schemas.openxmlformats.org/drawingml/2006/main">
            <a:pPr marL="0" indent="0" algn="ctr">
              <a:buNone/>
            </a:pPr>
            <a:r>
              <a:rPr sz="1300">
                <a:solidFill>
                  <a:srgbClr val="14B8A6"/>
                </a:solidFill>
                <a:latin typeface="Calibri"/>
                <a:ea typeface="Calibri"/>
                <a:cs typeface="Calibri"/>
              </a:rPr>
              <a:t>Dev 收尾</a:t>
            </a:r>
            <a:endParaRPr sz="13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6E610CF8-65BF-40F8-B0FA-572B0F13E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0"/>
            <a:ext cx="749808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948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7D00D6CD-27A6-4881-93D1-D7BABC3AF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457200"/>
            <a:ext cx="67665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AI 擅长 80%，人必须做那 20%</a:t>
            </a:r>
            <a:endParaRPr sz="1100"/>
          </a:p>
        </p:txBody>
      </p:sp>
      <p:graphicFrame>
        <p:nvGraphicFramePr>
          <p:cNvPr id="19" name="Table 0">
            <a:extLst xmlns:a="http://schemas.openxmlformats.org/drawingml/2006/main">
              <a:ext uri="{FF2B5EF4-FFF2-40B4-BE49-F238E27FC236}">
                <a16:creationId xmlns:a16="http://schemas.microsoft.com/office/drawing/2014/main" id="{DDF01C6B-0DDB-46B8-97E6-A598FB1A26E3}"/>
              </a:ext>
            </a:extLst>
          </p:cNvPr>
          <p:cNvGraphicFramePr/>
          <p:nvPr/>
        </p:nvGraphicFramePr>
        <p:xfrm>
          <a:off xmlns:a="http://schemas.openxmlformats.org/drawingml/2006/main" x="1920240" y="914400"/>
          <a:ext xmlns:a="http://schemas.openxmlformats.org/drawingml/2006/main" cx="6766560" cy="914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28800"/>
                <a:gridCol w="1828800"/>
                <a:gridCol w="3108960"/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</a:rPr>
                        <a:t>检查项</a:t>
                      </a:r>
                      <a:endParaRPr sz="1000"/>
                    </a:p>
                  </a:txBody>
                  <a:tcPr marL="76200" marR="76200" marT="25400" marB="25400">
                    <a:lnL w="6350" cmpd="sng">
                      <a:solidFill>
                        <a:srgbClr val="E2E8F0"/>
                      </a:solidFill>
                      <a:prstDash val="solid"/>
                    </a:lnL>
                    <a:lnR w="6350" cmpd="sng">
                      <a:solidFill>
                        <a:srgbClr val="E2E8F0"/>
                      </a:solidFill>
                      <a:prstDash val="solid"/>
                    </a:lnR>
                    <a:lnT w="6350" cmpd="sng">
                      <a:solidFill>
                        <a:srgbClr val="E2E8F0"/>
                      </a:solidFill>
                      <a:prstDash val="solid"/>
                    </a:lnT>
                    <a:lnB w="6350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</a:rPr>
                        <a:t>AI 覆盖</a:t>
                      </a:r>
                      <a:endParaRPr sz="1000"/>
                    </a:p>
                  </a:txBody>
                  <a:tcPr marL="76200" marR="76200" marT="25400" marB="25400">
                    <a:lnL w="6350" cmpd="sng">
                      <a:solidFill>
                        <a:srgbClr val="E2E8F0"/>
                      </a:solidFill>
                      <a:prstDash val="solid"/>
                    </a:lnL>
                    <a:lnR w="6350" cmpd="sng">
                      <a:solidFill>
                        <a:srgbClr val="E2E8F0"/>
                      </a:solidFill>
                      <a:prstDash val="solid"/>
                    </a:lnR>
                    <a:lnT w="6350" cmpd="sng">
                      <a:solidFill>
                        <a:srgbClr val="E2E8F0"/>
                      </a:solidFill>
                      <a:prstDash val="solid"/>
                    </a:lnT>
                    <a:lnB w="6350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</a:rPr>
                        <a:t>人必须做</a:t>
                      </a:r>
                      <a:endParaRPr sz="1000"/>
                    </a:p>
                  </a:txBody>
                  <a:tcPr marL="76200" marR="76200" marT="25400" marB="25400">
                    <a:lnL w="6350" cmpd="sng">
                      <a:solidFill>
                        <a:srgbClr val="E2E8F0"/>
                      </a:solidFill>
                      <a:prstDash val="solid"/>
                    </a:lnL>
                    <a:lnR w="6350" cmpd="sng">
                      <a:solidFill>
                        <a:srgbClr val="E2E8F0"/>
                      </a:solidFill>
                      <a:prstDash val="solid"/>
                    </a:lnR>
                    <a:lnT w="6350" cmpd="sng">
                      <a:solidFill>
                        <a:srgbClr val="E2E8F0"/>
                      </a:solidFill>
                      <a:prstDash val="solid"/>
                    </a:lnT>
                    <a:lnB w="6350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1A365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000000"/>
                          </a:solidFill>
                        </a:rPr>
                        <a:t>逻辑正确性</a:t>
                      </a:r>
                      <a:endParaRPr sz="1000"/>
                    </a:p>
                  </a:txBody>
                  <a:tcPr marL="76200" marR="76200" marT="25400" marB="25400">
                    <a:lnL w="6350" cmpd="sng">
                      <a:solidFill>
                        <a:srgbClr val="E2E8F0"/>
                      </a:solidFill>
                      <a:prstDash val="solid"/>
                    </a:lnL>
                    <a:lnR w="6350" cmpd="sng">
                      <a:solidFill>
                        <a:srgbClr val="E2E8F0"/>
                      </a:solidFill>
                      <a:prstDash val="solid"/>
                    </a:lnR>
                    <a:lnT w="6350" cmpd="sng">
                      <a:solidFill>
                        <a:srgbClr val="E2E8F0"/>
                      </a:solidFill>
                      <a:prstDash val="solid"/>
                    </a:lnT>
                    <a:lnB w="6350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00">
                          <a:solidFill>
                            <a:srgbClr val="059669"/>
                          </a:solidFill>
                        </a:rPr>
                        <a:t>⭐⭐⭐ 标准路径</a:t>
                      </a:r>
                      <a:endParaRPr sz="1000"/>
                    </a:p>
                  </a:txBody>
                  <a:tcPr marL="76200" marR="76200" marT="25400" marB="25400">
                    <a:lnL w="6350" cmpd="sng">
                      <a:solidFill>
                        <a:srgbClr val="E2E8F0"/>
                      </a:solidFill>
                      <a:prstDash val="solid"/>
                    </a:lnL>
                    <a:lnR w="6350" cmpd="sng">
                      <a:solidFill>
                        <a:srgbClr val="E2E8F0"/>
                      </a:solidFill>
                      <a:prstDash val="solid"/>
                    </a:lnR>
                    <a:lnT w="6350" cmpd="sng">
                      <a:solidFill>
                        <a:srgbClr val="E2E8F0"/>
                      </a:solidFill>
                      <a:prstDash val="solid"/>
                    </a:lnT>
                    <a:lnB w="6350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DC2626"/>
                          </a:solidFill>
                        </a:rPr>
                        <a:t>🔴 边界情况</a:t>
                      </a:r>
                      <a:endParaRPr sz="1000"/>
                    </a:p>
                  </a:txBody>
                  <a:tcPr marL="76200" marR="76200" marT="25400" marB="25400">
                    <a:lnL w="6350" cmpd="sng">
                      <a:solidFill>
                        <a:srgbClr val="E2E8F0"/>
                      </a:solidFill>
                      <a:prstDash val="solid"/>
                    </a:lnL>
                    <a:lnR w="6350" cmpd="sng">
                      <a:solidFill>
                        <a:srgbClr val="E2E8F0"/>
                      </a:solidFill>
                      <a:prstDash val="solid"/>
                    </a:lnR>
                    <a:lnT w="6350" cmpd="sng">
                      <a:solidFill>
                        <a:srgbClr val="E2E8F0"/>
                      </a:solidFill>
                      <a:prstDash val="solid"/>
                    </a:lnT>
                    <a:lnB w="6350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000000"/>
                          </a:solidFill>
                        </a:rPr>
                        <a:t>UI 细节</a:t>
                      </a:r>
                      <a:endParaRPr sz="1000"/>
                    </a:p>
                  </a:txBody>
                  <a:tcPr marL="76200" marR="76200" marT="25400" marB="25400">
                    <a:lnL w="6350" cmpd="sng">
                      <a:solidFill>
                        <a:srgbClr val="E2E8F0"/>
                      </a:solidFill>
                      <a:prstDash val="solid"/>
                    </a:lnL>
                    <a:lnR w="6350" cmpd="sng">
                      <a:solidFill>
                        <a:srgbClr val="E2E8F0"/>
                      </a:solidFill>
                      <a:prstDash val="solid"/>
                    </a:lnR>
                    <a:lnT w="6350" cmpd="sng">
                      <a:solidFill>
                        <a:srgbClr val="E2E8F0"/>
                      </a:solidFill>
                      <a:prstDash val="solid"/>
                    </a:lnT>
                    <a:lnB w="6350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00">
                          <a:solidFill>
                            <a:srgbClr val="059669"/>
                          </a:solidFill>
                        </a:rPr>
                        <a:t>⭐⭐ 布局</a:t>
                      </a:r>
                      <a:endParaRPr sz="1000"/>
                    </a:p>
                  </a:txBody>
                  <a:tcPr marL="76200" marR="76200" marT="25400" marB="25400">
                    <a:lnL w="6350" cmpd="sng">
                      <a:solidFill>
                        <a:srgbClr val="E2E8F0"/>
                      </a:solidFill>
                      <a:prstDash val="solid"/>
                    </a:lnL>
                    <a:lnR w="6350" cmpd="sng">
                      <a:solidFill>
                        <a:srgbClr val="E2E8F0"/>
                      </a:solidFill>
                      <a:prstDash val="solid"/>
                    </a:lnR>
                    <a:lnT w="6350" cmpd="sng">
                      <a:solidFill>
                        <a:srgbClr val="E2E8F0"/>
                      </a:solidFill>
                      <a:prstDash val="solid"/>
                    </a:lnT>
                    <a:lnB w="6350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DC2626"/>
                          </a:solidFill>
                        </a:rPr>
                        <a:t>🔴 细微交互</a:t>
                      </a:r>
                      <a:endParaRPr sz="1000"/>
                    </a:p>
                  </a:txBody>
                  <a:tcPr marL="76200" marR="76200" marT="25400" marB="25400">
                    <a:lnL w="6350" cmpd="sng">
                      <a:solidFill>
                        <a:srgbClr val="E2E8F0"/>
                      </a:solidFill>
                      <a:prstDash val="solid"/>
                    </a:lnL>
                    <a:lnR w="6350" cmpd="sng">
                      <a:solidFill>
                        <a:srgbClr val="E2E8F0"/>
                      </a:solidFill>
                      <a:prstDash val="solid"/>
                    </a:lnR>
                    <a:lnT w="6350" cmpd="sng">
                      <a:solidFill>
                        <a:srgbClr val="E2E8F0"/>
                      </a:solidFill>
                      <a:prstDash val="solid"/>
                    </a:lnT>
                    <a:lnB w="6350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000000"/>
                          </a:solidFill>
                        </a:rPr>
                        <a:t>错误处理</a:t>
                      </a:r>
                      <a:endParaRPr sz="1000"/>
                    </a:p>
                  </a:txBody>
                  <a:tcPr marL="76200" marR="76200" marT="25400" marB="25400">
                    <a:lnL w="6350" cmpd="sng">
                      <a:solidFill>
                        <a:srgbClr val="E2E8F0"/>
                      </a:solidFill>
                      <a:prstDash val="solid"/>
                    </a:lnL>
                    <a:lnR w="6350" cmpd="sng">
                      <a:solidFill>
                        <a:srgbClr val="E2E8F0"/>
                      </a:solidFill>
                      <a:prstDash val="solid"/>
                    </a:lnR>
                    <a:lnT w="6350" cmpd="sng">
                      <a:solidFill>
                        <a:srgbClr val="E2E8F0"/>
                      </a:solidFill>
                      <a:prstDash val="solid"/>
                    </a:lnT>
                    <a:lnB w="6350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00">
                          <a:solidFill>
                            <a:srgbClr val="059669"/>
                          </a:solidFill>
                        </a:rPr>
                        <a:t>⭐⭐ 主线</a:t>
                      </a:r>
                      <a:endParaRPr sz="1000"/>
                    </a:p>
                  </a:txBody>
                  <a:tcPr marL="76200" marR="76200" marT="25400" marB="25400">
                    <a:lnL w="6350" cmpd="sng">
                      <a:solidFill>
                        <a:srgbClr val="E2E8F0"/>
                      </a:solidFill>
                      <a:prstDash val="solid"/>
                    </a:lnL>
                    <a:lnR w="6350" cmpd="sng">
                      <a:solidFill>
                        <a:srgbClr val="E2E8F0"/>
                      </a:solidFill>
                      <a:prstDash val="solid"/>
                    </a:lnR>
                    <a:lnT w="6350" cmpd="sng">
                      <a:solidFill>
                        <a:srgbClr val="E2E8F0"/>
                      </a:solidFill>
                      <a:prstDash val="solid"/>
                    </a:lnT>
                    <a:lnB w="6350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DC2626"/>
                          </a:solidFill>
                        </a:rPr>
                        <a:t>🔴 异常组合</a:t>
                      </a:r>
                      <a:endParaRPr sz="1000"/>
                    </a:p>
                  </a:txBody>
                  <a:tcPr marL="76200" marR="76200" marT="25400" marB="25400">
                    <a:lnL w="6350" cmpd="sng">
                      <a:solidFill>
                        <a:srgbClr val="E2E8F0"/>
                      </a:solidFill>
                      <a:prstDash val="solid"/>
                    </a:lnL>
                    <a:lnR w="6350" cmpd="sng">
                      <a:solidFill>
                        <a:srgbClr val="E2E8F0"/>
                      </a:solidFill>
                      <a:prstDash val="solid"/>
                    </a:lnR>
                    <a:lnT w="6350" cmpd="sng">
                      <a:solidFill>
                        <a:srgbClr val="E2E8F0"/>
                      </a:solidFill>
                      <a:prstDash val="solid"/>
                    </a:lnT>
                    <a:lnB w="6350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000000"/>
                          </a:solidFill>
                        </a:rPr>
                        <a:t>安全</a:t>
                      </a:r>
                      <a:endParaRPr sz="1000"/>
                    </a:p>
                  </a:txBody>
                  <a:tcPr marL="76200" marR="76200" marT="25400" marB="25400">
                    <a:lnL w="6350" cmpd="sng">
                      <a:solidFill>
                        <a:srgbClr val="E2E8F0"/>
                      </a:solidFill>
                      <a:prstDash val="solid"/>
                    </a:lnL>
                    <a:lnR w="6350" cmpd="sng">
                      <a:solidFill>
                        <a:srgbClr val="E2E8F0"/>
                      </a:solidFill>
                      <a:prstDash val="solid"/>
                    </a:lnR>
                    <a:lnT w="6350" cmpd="sng">
                      <a:solidFill>
                        <a:srgbClr val="E2E8F0"/>
                      </a:solidFill>
                      <a:prstDash val="solid"/>
                    </a:lnT>
                    <a:lnB w="6350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00">
                          <a:solidFill>
                            <a:srgbClr val="059669"/>
                          </a:solidFill>
                        </a:rPr>
                        <a:t>⭐ 常见注入</a:t>
                      </a:r>
                      <a:endParaRPr sz="1000"/>
                    </a:p>
                  </a:txBody>
                  <a:tcPr marL="76200" marR="76200" marT="25400" marB="25400">
                    <a:lnL w="6350" cmpd="sng">
                      <a:solidFill>
                        <a:srgbClr val="E2E8F0"/>
                      </a:solidFill>
                      <a:prstDash val="solid"/>
                    </a:lnL>
                    <a:lnR w="6350" cmpd="sng">
                      <a:solidFill>
                        <a:srgbClr val="E2E8F0"/>
                      </a:solidFill>
                      <a:prstDash val="solid"/>
                    </a:lnR>
                    <a:lnT w="6350" cmpd="sng">
                      <a:solidFill>
                        <a:srgbClr val="E2E8F0"/>
                      </a:solidFill>
                      <a:prstDash val="solid"/>
                    </a:lnT>
                    <a:lnB w="6350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DC2626"/>
                          </a:solidFill>
                        </a:rPr>
                        <a:t>🔴 权限/泄露</a:t>
                      </a:r>
                      <a:endParaRPr sz="1000"/>
                    </a:p>
                  </a:txBody>
                  <a:tcPr marL="76200" marR="76200" marT="25400" marB="25400">
                    <a:lnL w="6350" cmpd="sng">
                      <a:solidFill>
                        <a:srgbClr val="E2E8F0"/>
                      </a:solidFill>
                      <a:prstDash val="solid"/>
                    </a:lnL>
                    <a:lnR w="6350" cmpd="sng">
                      <a:solidFill>
                        <a:srgbClr val="E2E8F0"/>
                      </a:solidFill>
                      <a:prstDash val="solid"/>
                    </a:lnR>
                    <a:lnT w="6350" cmpd="sng">
                      <a:solidFill>
                        <a:srgbClr val="E2E8F0"/>
                      </a:solidFill>
                      <a:prstDash val="solid"/>
                    </a:lnT>
                    <a:lnB w="6350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000000"/>
                          </a:solidFill>
                        </a:rPr>
                        <a:t>集成</a:t>
                      </a:r>
                      <a:endParaRPr sz="1000"/>
                    </a:p>
                  </a:txBody>
                  <a:tcPr marL="76200" marR="76200" marT="25400" marB="25400">
                    <a:lnL w="6350" cmpd="sng">
                      <a:solidFill>
                        <a:srgbClr val="E2E8F0"/>
                      </a:solidFill>
                      <a:prstDash val="solid"/>
                    </a:lnL>
                    <a:lnR w="6350" cmpd="sng">
                      <a:solidFill>
                        <a:srgbClr val="E2E8F0"/>
                      </a:solidFill>
                      <a:prstDash val="solid"/>
                    </a:lnR>
                    <a:lnT w="6350" cmpd="sng">
                      <a:solidFill>
                        <a:srgbClr val="E2E8F0"/>
                      </a:solidFill>
                      <a:prstDash val="solid"/>
                    </a:lnT>
                    <a:lnB w="6350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00">
                          <a:solidFill>
                            <a:srgbClr val="059669"/>
                          </a:solidFill>
                        </a:rPr>
                        <a:t>⭐⭐ 单模块</a:t>
                      </a:r>
                      <a:endParaRPr sz="1000"/>
                    </a:p>
                  </a:txBody>
                  <a:tcPr marL="76200" marR="76200" marT="25400" marB="25400">
                    <a:lnL w="6350" cmpd="sng">
                      <a:solidFill>
                        <a:srgbClr val="E2E8F0"/>
                      </a:solidFill>
                      <a:prstDash val="solid"/>
                    </a:lnL>
                    <a:lnR w="6350" cmpd="sng">
                      <a:solidFill>
                        <a:srgbClr val="E2E8F0"/>
                      </a:solidFill>
                      <a:prstDash val="solid"/>
                    </a:lnR>
                    <a:lnT w="6350" cmpd="sng">
                      <a:solidFill>
                        <a:srgbClr val="E2E8F0"/>
                      </a:solidFill>
                      <a:prstDash val="solid"/>
                    </a:lnT>
                    <a:lnB w="6350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DC2626"/>
                          </a:solidFill>
                        </a:rPr>
                        <a:t>🔴 跨模块</a:t>
                      </a:r>
                      <a:endParaRPr sz="1000"/>
                    </a:p>
                  </a:txBody>
                  <a:tcPr marL="76200" marR="76200" marT="25400" marB="25400">
                    <a:lnL w="6350" cmpd="sng">
                      <a:solidFill>
                        <a:srgbClr val="E2E8F0"/>
                      </a:solidFill>
                      <a:prstDash val="solid"/>
                    </a:lnL>
                    <a:lnR w="6350" cmpd="sng">
                      <a:solidFill>
                        <a:srgbClr val="E2E8F0"/>
                      </a:solidFill>
                      <a:prstDash val="solid"/>
                    </a:lnR>
                    <a:lnT w="6350" cmpd="sng">
                      <a:solidFill>
                        <a:srgbClr val="E2E8F0"/>
                      </a:solidFill>
                      <a:prstDash val="solid"/>
                    </a:lnT>
                    <a:lnB w="6350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2CBD5CBB-8D10-4285-9961-4D7C3E84E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3429000"/>
            <a:ext cx="676656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BC384536-9C17-407D-BB9D-CA67763D4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4832" y="3520440"/>
            <a:ext cx="6492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59E0B"/>
                </a:solidFill>
                <a:latin typeface="Calibri"/>
                <a:ea typeface="Calibri"/>
                <a:cs typeface="Calibri"/>
              </a:rPr>
              <a:t>QA 验收</a:t>
            </a:r>
            <a:endParaRPr sz="110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0EC7857B-F8D4-41AA-86B8-DEB2C5D85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4832" y="3794760"/>
            <a:ext cx="6492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跑 check.md 全部步骤 → 签署 done     |     人管边界，AI 管标准 — 互补不是替代</a:t>
            </a:r>
            <a:endParaRPr sz="1000"/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65E1C941-05A1-46F0-B730-37A628AF3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09160"/>
            <a:ext cx="9144000" cy="4343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65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484B236B-F8BA-4199-A239-778C5E9F9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09160"/>
            <a:ext cx="8229600" cy="4343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SSOT 开发方法论  |  MIT License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45155781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2894765-83B3-486E-BE5F-1E3659711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4592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65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FC3DFC9-FC91-4BE7-9825-C203A7AA2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0040"/>
            <a:ext cx="16459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11</a:t>
            </a:r>
            <a:endParaRPr sz="28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93AA2A31-ADDF-4DC7-96A2-9B8554AA8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868680"/>
            <a:ext cx="1463040" cy="228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>
                <a:solidFill>
                  <a:srgbClr val="14B8A6"/>
                </a:solidFill>
                <a:latin typeface="Calibri"/>
                <a:ea typeface="Calibri"/>
                <a:cs typeface="Calibri"/>
              </a:rPr>
              <a:t>角色边界</a:t>
            </a:r>
            <a:endParaRPr sz="13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53062BD8-6879-4158-8B4B-7B3E28836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0"/>
            <a:ext cx="749808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948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9AFEF3BE-8230-43EC-8064-D37F2F147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457200"/>
            <a:ext cx="3246120" cy="1554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effectLst xmlns:a="http://schemas.openxmlformats.org/drawingml/2006/main">
            <a:outerShdw blurRad="50800" dist="25400" dir="8100000" sx="100000" sy="100000" kx="0" ky="0" algn="bl" rotWithShape="0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6B423EDB-76AD-45B7-8853-D87691A22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457200"/>
            <a:ext cx="54864" cy="1554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948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73E13091-413E-421D-83B2-7715CC20C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3120" y="612648"/>
            <a:ext cx="50292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948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81B17B9C-0E8F-4015-B5C1-C2A27E386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3120" y="612648"/>
            <a:ext cx="5029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PM</a:t>
            </a:r>
            <a:endParaRPr sz="10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724145F9-4D99-45B5-AA6C-F8E9F881A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480" y="612648"/>
            <a:ext cx="228600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docs/ 产品文档 + sprints/ 冲刺 + prototypes/ 原型</a:t>
            </a:r>
            <a:endParaRPr sz="10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62267318-A3B6-4B49-B375-4600FBBED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3120" y="1325880"/>
            <a:ext cx="28803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核心: 业务流程、验收条件、术语表</a:t>
            </a:r>
            <a:endParaRPr sz="9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2D3DF3BB-A599-4F1E-8EE6-17FA4ED6C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0680" y="457200"/>
            <a:ext cx="3246120" cy="1554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effectLst xmlns:a="http://schemas.openxmlformats.org/drawingml/2006/main">
            <a:outerShdw blurRad="50800" dist="25400" dir="8100000" sx="100000" sy="100000" kx="0" ky="0" algn="bl" rotWithShape="0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F8498A6A-2A73-459B-AC0E-28FBB928F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0680" y="457200"/>
            <a:ext cx="54864" cy="1554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2BF393B0-E3D6-4596-BCBB-19BC34890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612648"/>
            <a:ext cx="50292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E7538AE5-B803-457C-BDB7-69D10172E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612648"/>
            <a:ext cx="5029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Dev/TL</a:t>
            </a:r>
            <a:endParaRPr sz="10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2E6C3C94-1073-4194-8C13-537BCDC61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612648"/>
            <a:ext cx="228600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architecture/ + 必要 ADR + 审 spec</a:t>
            </a:r>
            <a:endParaRPr sz="10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B8FB773A-023B-457C-8790-85F31E1F2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1325880"/>
            <a:ext cx="28803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核心: 当前架构、契约语义、阶段边界</a:t>
            </a:r>
            <a:endParaRPr sz="90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6B47AA34-FF30-4BD9-BFA9-5B6750F42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2286000"/>
            <a:ext cx="3246120" cy="1554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effectLst xmlns:a="http://schemas.openxmlformats.org/drawingml/2006/main">
            <a:outerShdw blurRad="50800" dist="25400" dir="8100000" sx="100000" sy="100000" kx="0" ky="0" algn="bl" rotWithShape="0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2D77D797-2825-436C-93ED-090DF73FD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2286000"/>
            <a:ext cx="54864" cy="1554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0DCBE650-B533-46A3-8432-074537B16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3120" y="2441448"/>
            <a:ext cx="50292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74752DE3-F94B-447B-948D-0D96FE7AA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3120" y="2441448"/>
            <a:ext cx="5029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AI</a:t>
            </a:r>
            <a:endParaRPr sz="10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3DE463F6-2A22-4974-8E3D-76350C406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480" y="2441448"/>
            <a:ext cx="228600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specs/ 四文件 + 按依赖顺序编码 + 自检</a:t>
            </a:r>
            <a:endParaRPr sz="10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D43BCDC7-631E-41F6-B489-B1F729033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3120" y="3154680"/>
            <a:ext cx="28803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核心: 等价复原、契约收口、标准编码</a:t>
            </a:r>
            <a:endParaRPr sz="90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ADE9D5DD-E556-4CF0-AAE4-EB98FB7B2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0680" y="2286000"/>
            <a:ext cx="3246120" cy="1554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effectLst xmlns:a="http://schemas.openxmlformats.org/drawingml/2006/main">
            <a:outerShdw blurRad="50800" dist="25400" dir="8100000" sx="100000" sy="100000" kx="0" ky="0" algn="bl" rotWithShape="0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1B1EC47C-C6A9-4FF2-9698-41761DD63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0680" y="2286000"/>
            <a:ext cx="54864" cy="1554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0EF026D3-EE8F-44A5-9CC2-B0A34AA42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2441448"/>
            <a:ext cx="50292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D31E0D10-C592-4E11-8FED-888D94541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2441448"/>
            <a:ext cx="5029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QA</a:t>
            </a:r>
            <a:endParaRPr sz="100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B8726C40-9FDA-465E-ACB5-CFF843358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2441448"/>
            <a:ext cx="228600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跑 check.md → 签署 done</a:t>
            </a:r>
            <a:endParaRPr sz="100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ABD8AC0C-C42C-40BC-9D62-25601A922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3154680"/>
            <a:ext cx="28803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核心: 回归范围、人工验收</a:t>
            </a:r>
            <a:endParaRPr sz="900"/>
          </a:p>
        </p:txBody>
      </p:sp>
      <p:sp>
        <p:nvSpPr>
          <p:cNvPr id="32" name="Shape 16">
            <a:extLst xmlns:a="http://schemas.openxmlformats.org/drawingml/2006/main">
              <a:ext uri="{FF2B5EF4-FFF2-40B4-BE49-F238E27FC236}">
                <a16:creationId xmlns:a16="http://schemas.microsoft.com/office/drawing/2014/main" id="{28756633-478B-4E0D-A119-B08599F9B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3950208"/>
            <a:ext cx="6858000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effectLst xmlns:a="http://schemas.openxmlformats.org/drawingml/2006/main">
            <a:outerShdw blurRad="50800" dist="25400" dir="8100000" sx="100000" sy="100000" kx="0" ky="0" algn="bl" rotWithShape="0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Shape 17">
            <a:extLst xmlns:a="http://schemas.openxmlformats.org/drawingml/2006/main">
              <a:ext uri="{FF2B5EF4-FFF2-40B4-BE49-F238E27FC236}">
                <a16:creationId xmlns:a16="http://schemas.microsoft.com/office/drawing/2014/main" id="{E025EB91-49AB-41E3-922B-2004B4C67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3950208"/>
            <a:ext cx="54864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4" name="Shape 18">
            <a:extLst xmlns:a="http://schemas.openxmlformats.org/drawingml/2006/main">
              <a:ext uri="{FF2B5EF4-FFF2-40B4-BE49-F238E27FC236}">
                <a16:creationId xmlns:a16="http://schemas.microsoft.com/office/drawing/2014/main" id="{DD05752A-5524-408A-8A38-5CEC4FFA2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041648"/>
            <a:ext cx="50292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Text 19">
            <a:extLst xmlns:a="http://schemas.openxmlformats.org/drawingml/2006/main">
              <a:ext uri="{FF2B5EF4-FFF2-40B4-BE49-F238E27FC236}">
                <a16:creationId xmlns:a16="http://schemas.microsoft.com/office/drawing/2014/main" id="{963A2FE3-5949-4B66-946E-52C5172B6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041648"/>
            <a:ext cx="5029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Ops</a:t>
            </a:r>
            <a:endParaRPr sz="1000"/>
          </a:p>
        </p:txBody>
      </p:sp>
      <p:sp>
        <p:nvSpPr>
          <p:cNvPr id="36" name="Text 20">
            <a:extLst xmlns:a="http://schemas.openxmlformats.org/drawingml/2006/main">
              <a:ext uri="{FF2B5EF4-FFF2-40B4-BE49-F238E27FC236}">
                <a16:creationId xmlns:a16="http://schemas.microsoft.com/office/drawing/2014/main" id="{6321AEC0-F6C5-440E-ABA7-B3A419EFD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480" y="4041648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assets/</a:t>
            </a:r>
            <a:endParaRPr sz="1000"/>
          </a:p>
        </p:txBody>
      </p:sp>
      <p:sp>
        <p:nvSpPr>
          <p:cNvPr id="37" name="Text 21">
            <a:extLst xmlns:a="http://schemas.openxmlformats.org/drawingml/2006/main">
              <a:ext uri="{FF2B5EF4-FFF2-40B4-BE49-F238E27FC236}">
                <a16:creationId xmlns:a16="http://schemas.microsoft.com/office/drawing/2014/main" id="{A7E95C41-624C-4F80-8000-3D8C68BE3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4041648"/>
            <a:ext cx="3566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部署 / 配置 / 契约发布 / 手册</a:t>
            </a:r>
            <a:endParaRPr sz="900"/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D714EB29-CDDE-44E9-BCEC-CC6E45E62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09160"/>
            <a:ext cx="9144000" cy="4343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65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9FADCA5E-2780-4031-B437-07BD75CC0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09160"/>
            <a:ext cx="8229600" cy="4343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SSOT 开发方法论  |  MIT License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63821131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24EF7B26-DCDD-4252-96C4-FF5A26455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4592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65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F61B271-FD01-4910-A991-9FA5A83E9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0040"/>
            <a:ext cx="16459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12</a:t>
            </a:r>
            <a:endParaRPr sz="28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092273BF-36C0-471B-93C0-AF052F050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868680"/>
            <a:ext cx="1463040" cy="228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>
                <a:solidFill>
                  <a:srgbClr val="14B8A6"/>
                </a:solidFill>
                <a:latin typeface="Calibri"/>
                <a:ea typeface="Calibri"/>
                <a:cs typeface="Calibri"/>
              </a:rPr>
              <a:t>FAQ</a:t>
            </a:r>
            <a:endParaRPr sz="13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30770A2F-73D2-4B32-A320-DE0EE8038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0"/>
            <a:ext cx="749808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948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5C5B5205-A498-4461-AFFC-B3A98C611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365760"/>
            <a:ext cx="6766560" cy="777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effectLst xmlns:a="http://schemas.openxmlformats.org/drawingml/2006/main">
            <a:outerShdw blurRad="50800" dist="25400" dir="8100000" sx="100000" sy="100000" kx="0" ky="0" algn="bl" rotWithShape="0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B68CCAA6-3B8D-4F02-AEA0-CF77D75DB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365760"/>
            <a:ext cx="54864" cy="777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948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320E9088-AAD3-4BDA-B57A-4C009608F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3120" y="438912"/>
            <a:ext cx="6400800" cy="3017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Q: 一个 sprint 多个功能？</a:t>
            </a:r>
            <a:endParaRPr sz="11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B11A2D80-E99C-41C6-B770-DC604255A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3120" y="749808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A: 每个功能一个 spec，Step 2-3 可并行</a:t>
            </a:r>
            <a:endParaRPr sz="100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8510CE94-1908-4CAF-903E-015D4CE04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1325880"/>
            <a:ext cx="6766560" cy="777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effectLst xmlns:a="http://schemas.openxmlformats.org/drawingml/2006/main">
            <a:outerShdw blurRad="50800" dist="25400" dir="8100000" sx="100000" sy="100000" kx="0" ky="0" algn="bl" rotWithShape="0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229D1D41-285D-4462-A923-AA06D04BC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1325880"/>
            <a:ext cx="54864" cy="777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948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3D280EB3-2E6B-402C-BEB3-998851204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3120" y="1399032"/>
            <a:ext cx="6400800" cy="3017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Q: 写 spec 发现 sprint 有问题？</a:t>
            </a:r>
            <a:endParaRPr sz="11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FFB45895-2CE7-465C-8151-1E22D6AE8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3120" y="1709928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A: 打回 Step 1，PM 修。不在 spec 里改业务</a:t>
            </a:r>
            <a:endParaRPr sz="100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7E318ABB-BB87-4F7F-832C-C257F27F5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2286000"/>
            <a:ext cx="6766560" cy="777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effectLst xmlns:a="http://schemas.openxmlformats.org/drawingml/2006/main">
            <a:outerShdw blurRad="50800" dist="25400" dir="8100000" sx="100000" sy="100000" kx="0" ky="0" algn="bl" rotWithShape="0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4CB479A0-386E-40CE-B64C-C0EAB6D3B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2286000"/>
            <a:ext cx="54864" cy="777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948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8B5B809C-4AE4-4EC7-A577-73AA35AD9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3120" y="2359152"/>
            <a:ext cx="6400800" cy="3017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Q: AI 代码有问题？</a:t>
            </a:r>
            <a:endParaRPr sz="11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3072B9BD-0961-4A34-8608-4FC173675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3120" y="2670048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A: 小 bug → Step 5 修。方向不对 → 回 Step 2</a:t>
            </a:r>
            <a:endParaRPr sz="100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3F029624-844E-498E-A5AF-77B9BF19A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3246120"/>
            <a:ext cx="6766560" cy="777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effectLst xmlns:a="http://schemas.openxmlformats.org/drawingml/2006/main">
            <a:outerShdw blurRad="50800" dist="25400" dir="8100000" sx="100000" sy="100000" kx="0" ky="0" algn="bl" rotWithShape="0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6BFD0116-A0FF-4D45-81BB-FF5BBA364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3246120"/>
            <a:ext cx="54864" cy="777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948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C4D241E6-5DB6-478D-9161-8C4ECBDC5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3120" y="3319272"/>
            <a:ext cx="6400800" cy="3017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Q: 谁验收 check.md？</a:t>
            </a:r>
            <a:endParaRPr sz="11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4BE7F7E1-3106-4B64-8D1A-A6045053A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3120" y="3630168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A: QA 跑。无 QA 则 Dev 验收，PM 确认业务条件</a:t>
            </a:r>
            <a:endParaRPr sz="1000"/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9DCA5428-9C59-4AB5-9335-E050841AF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09160"/>
            <a:ext cx="9144000" cy="4343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65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CA016202-374F-4824-BD9B-43A5D7131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09160"/>
            <a:ext cx="8229600" cy="4343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SSOT 开发方法论  |  MIT License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77281258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B6203248-56CC-4B07-BF52-EAC9A32EA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4592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65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42E1EFA-4078-442E-AB79-BE0C80E2F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0040"/>
            <a:ext cx="16459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13</a:t>
            </a:r>
            <a:endParaRPr sz="28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F2068B01-F9BB-4901-B32F-162B2E029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868680"/>
            <a:ext cx="1463040" cy="228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>
                <a:solidFill>
                  <a:srgbClr val="14B8A6"/>
                </a:solidFill>
                <a:latin typeface="Calibri"/>
                <a:ea typeface="Calibri"/>
                <a:cs typeface="Calibri"/>
              </a:rPr>
              <a:t>契约治理</a:t>
            </a:r>
            <a:endParaRPr sz="13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D23757F1-3D2F-4044-8C42-E90112306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0"/>
            <a:ext cx="749808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948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7F5CA5F4-71E3-4D37-BFF5-7F385CF0D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457200"/>
            <a:ext cx="67665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AI 先识别协作边界；共享边界先定权威契约，再进入并行开发</a:t>
            </a:r>
            <a:endParaRPr sz="11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47982F0E-AEA2-471C-BAC7-FF2982DC5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914400"/>
            <a:ext cx="3291840" cy="2560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effectLst xmlns:a="http://schemas.openxmlformats.org/drawingml/2006/main">
            <a:outerShdw blurRad="50800" dist="25400" dir="8100000" sx="100000" sy="100000" kx="0" ky="0" algn="bl" rotWithShape="0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7ED43725-2CBB-4113-94E8-DECAFDF05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914400"/>
            <a:ext cx="329184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948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10EC418-3B2A-40E4-BEA6-F4C3AB39B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4832" y="1024128"/>
            <a:ext cx="3017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D9488"/>
                </a:solidFill>
                <a:latin typeface="Calibri"/>
                <a:ea typeface="Calibri"/>
                <a:cs typeface="Calibri"/>
              </a:rPr>
              <a:t>共享边界契约</a:t>
            </a:r>
            <a:endParaRPr sz="11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BCF4ADDD-34B2-4A57-8E5E-6625863BC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4832" y="1417320"/>
            <a:ext cx="3017520" cy="182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适用边界</a:t>
            </a:r>
            <a:endParaRPr sz="900"/>
          </a:p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跨服务 / 进程 / 语言 / 独立部署 / 外部消费者</a:t>
            </a:r>
          </a:p>
          <a:p xmlns:a="http://schemas.openxmlformats.org/drawingml/2006/main">
            <a:pPr marL="0" indent="0">
              <a:buNone/>
            </a:pPr>
          </a:p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生产方负责契约语义</a:t>
            </a:r>
          </a:p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消费方参与依赖评审</a:t>
            </a:r>
          </a:p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assets/interfaces/ 是唯一当前契约</a:t>
            </a:r>
          </a:p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Context Contract 只作为执行摘要</a:t>
            </a:r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77EC2451-1E8F-4DA1-9BC5-640B630E6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914400"/>
            <a:ext cx="3291840" cy="2560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effectLst xmlns:a="http://schemas.openxmlformats.org/drawingml/2006/main">
            <a:outerShdw blurRad="50800" dist="25400" dir="8100000" sx="100000" sy="100000" kx="0" ky="0" algn="bl" rotWithShape="0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03C38B13-1A9F-4CBC-BE00-966F54C61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914400"/>
            <a:ext cx="329184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351EAE15-CCF4-40F2-8CDD-D1F4A8607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0992" y="1024128"/>
            <a:ext cx="3017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59E0B"/>
                </a:solidFill>
                <a:latin typeface="Calibri"/>
                <a:ea typeface="Calibri"/>
                <a:cs typeface="Calibri"/>
              </a:rPr>
              <a:t>工具由用户决定</a:t>
            </a:r>
            <a:endParaRPr sz="11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E35C2F7E-919E-49DE-80F5-66101174B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0992" y="1417320"/>
            <a:ext cx="3017520" cy="182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无共享边界</a:t>
            </a:r>
            <a:endParaRPr sz="900"/>
          </a:p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不额外创建公共契约</a:t>
            </a:r>
          </a:p>
          <a:p xmlns:a="http://schemas.openxmlformats.org/drawingml/2006/main">
            <a:pPr marL="0" indent="0">
              <a:buNone/>
            </a:pPr>
          </a:p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可选工具</a:t>
            </a:r>
          </a:p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契约检查 / 生成 / Mock</a:t>
            </a:r>
          </a:p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模型检查 / 可视化</a:t>
            </a:r>
          </a:p>
          <a:p xmlns:a="http://schemas.openxmlformats.org/drawingml/2006/main">
            <a:pPr marL="0" indent="0">
              <a:buNone/>
            </a:pPr>
          </a:p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用户确认后另建 spec</a:t>
            </a:r>
          </a:p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在 tools/ 中正常推进</a:t>
            </a:r>
          </a:p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破坏性变更回 Step 2/3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CC608AD0-7D55-41AF-A827-F4D274FF5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09160"/>
            <a:ext cx="9144000" cy="4343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65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19A9FCD1-36AC-471A-B822-1F07B4E0F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09160"/>
            <a:ext cx="8229600" cy="4343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SSOT 开发方法论  |  MIT License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4923315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1A365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C4931108-1367-459B-9501-651988AF7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09160"/>
            <a:ext cx="9144000" cy="4343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65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FF1C13D3-AB4F-4034-A6A1-A3F6C9643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09160"/>
            <a:ext cx="8229600" cy="4343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SSOT 开发方法论  |  MIT License</a:t>
            </a:r>
            <a:endParaRPr sz="9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C57C742F-E5FE-4DCC-908A-7DD6B31B6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80467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spc="600">
                <a:solidFill>
                  <a:srgbClr val="14B8A6"/>
                </a:solidFill>
                <a:latin typeface="Calibri"/>
                <a:ea typeface="Calibri"/>
                <a:cs typeface="Calibri"/>
              </a:rPr>
              <a:t>SSOT</a:t>
            </a:r>
            <a:endParaRPr sz="14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AA55068A-A0D6-49B9-A230-44B67B2E7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48640"/>
            <a:ext cx="80467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五句话总结</a:t>
            </a:r>
            <a:endParaRPr sz="26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F80D6185-C7CC-4917-BC42-B84DDBE4B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280160"/>
            <a:ext cx="8046720" cy="4389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5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30A6B12D-CB88-4188-992E-9BE6FAA29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280160"/>
            <a:ext cx="36576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D9488"/>
                </a:solidFill>
                <a:latin typeface="Calibri"/>
                <a:ea typeface="Calibri"/>
                <a:cs typeface="Calibri"/>
              </a:rPr>
              <a:t>①</a:t>
            </a:r>
            <a:endParaRPr sz="14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169CBCCA-CF80-4ECC-9499-244488D91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1280160"/>
            <a:ext cx="7132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PM 写清楚业务（docs + sprints），不写技术</a:t>
            </a:r>
            <a:endParaRPr sz="120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8DC3705F-7EAC-4F51-893C-AF5727D76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828800"/>
            <a:ext cx="8046720" cy="4389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5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566CD2BE-6338-48B4-8F4E-08BDEF5D4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828800"/>
            <a:ext cx="36576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4B8A6"/>
                </a:solidFill>
                <a:latin typeface="Calibri"/>
                <a:ea typeface="Calibri"/>
                <a:cs typeface="Calibri"/>
              </a:rPr>
              <a:t>②</a:t>
            </a:r>
            <a:endParaRPr sz="14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76A1F590-329A-42DB-B8A4-DDB3B4AAD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1828800"/>
            <a:ext cx="7132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架构写当前，ADR 只记低频决策历史</a:t>
            </a:r>
            <a:endParaRPr sz="12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3E1B742F-51EC-4033-9CB4-56384E777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377440"/>
            <a:ext cx="8046720" cy="4389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5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45C0CCCB-6FD6-4C83-AE37-F2882FFEC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377440"/>
            <a:ext cx="36576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59E0B"/>
                </a:solidFill>
                <a:latin typeface="Calibri"/>
                <a:ea typeface="Calibri"/>
                <a:cs typeface="Calibri"/>
              </a:rPr>
              <a:t>③</a:t>
            </a:r>
            <a:endParaRPr sz="14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0803C0A1-EDB4-4231-B4B4-FF5AB154D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2377440"/>
            <a:ext cx="7132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spec 写进入 / 实现 / 退出与收口责任</a:t>
            </a:r>
            <a:endParaRPr sz="120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069EABBD-3D76-4C62-8EF5-985FED619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926080"/>
            <a:ext cx="8046720" cy="4389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5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C6F12DA4-4E6F-408F-A902-127EAB1CE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926080"/>
            <a:ext cx="36576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D9488"/>
                </a:solidFill>
                <a:latin typeface="Calibri"/>
                <a:ea typeface="Calibri"/>
                <a:cs typeface="Calibri"/>
              </a:rPr>
              <a:t>④</a:t>
            </a:r>
            <a:endParaRPr sz="14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91FF24F3-60CF-4499-8CEF-97F4643F4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2926080"/>
            <a:ext cx="7132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先评审，再按有向依赖编码并验收</a:t>
            </a:r>
            <a:endParaRPr sz="120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0A3E63B6-BE18-4FCB-AD15-DB828138E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474720"/>
            <a:ext cx="8046720" cy="4389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5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75E0097C-663D-437F-98C9-3279CB5BC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474720"/>
            <a:ext cx="36576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4B8A6"/>
                </a:solidFill>
                <a:latin typeface="Calibri"/>
                <a:ea typeface="Calibri"/>
                <a:cs typeface="Calibri"/>
              </a:rPr>
              <a:t>⑤</a:t>
            </a:r>
            <a:endParaRPr sz="14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D84D69D2-A5B0-4D23-8567-171D0EEF7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474720"/>
            <a:ext cx="7132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删除代码后，仍可按规格等价复原阶段交付</a:t>
            </a:r>
            <a:endParaRPr sz="1200"/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720F68B3-51D0-40B8-8F28-D3FA03843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977640"/>
            <a:ext cx="804672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5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0BB15B29-554B-4369-8170-54EC17B14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977640"/>
            <a:ext cx="80467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14B8A6"/>
                </a:solidFill>
                <a:latin typeface="Calibri"/>
                <a:ea typeface="Calibri"/>
                <a:cs typeface="Calibri"/>
              </a:rPr>
              <a:t>完整规范：ssot-convention.zh.md    AI 入口：AGENTS.md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209218420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2026-10-16T13:38:33.8880000Z</dcterms:created>
  <dcterms:modified xsi:type="dcterms:W3CDTF">2026-10-16T13:38:33.8880000Z</dcterms:modified>
</coreProperties>
</file>